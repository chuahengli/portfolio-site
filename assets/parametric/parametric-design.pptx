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1" r:id="rId4"/>
    <p:sldId id="260" r:id="rId5"/>
    <p:sldId id="259" r:id="rId6"/>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B857"/>
    <a:srgbClr val="B312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110" d="100"/>
          <a:sy n="110" d="100"/>
        </p:scale>
        <p:origin x="868"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718255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811143"/>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483" rtl="0" eaLnBrk="1" latinLnBrk="0" hangingPunct="1">
        <a:lnSpc>
          <a:spcPct val="90000"/>
        </a:lnSpc>
        <a:spcBef>
          <a:spcPct val="0"/>
        </a:spcBef>
        <a:buNone/>
        <a:defRPr sz="4401" kern="1200">
          <a:solidFill>
            <a:schemeClr val="tx1"/>
          </a:solidFill>
          <a:latin typeface="+mj-lt"/>
          <a:ea typeface="+mj-ea"/>
          <a:cs typeface="+mj-cs"/>
        </a:defRPr>
      </a:lvl1pPr>
    </p:titleStyle>
    <p:bodyStyle>
      <a:lvl1pPr marL="228621" indent="-228621" algn="l" defTabSz="914483" rtl="0" eaLnBrk="1" latinLnBrk="0" hangingPunct="1">
        <a:lnSpc>
          <a:spcPct val="90000"/>
        </a:lnSpc>
        <a:spcBef>
          <a:spcPts val="1000"/>
        </a:spcBef>
        <a:buFont typeface="Arial" panose="020B0604020202020204" pitchFamily="34" charset="0"/>
        <a:buChar char="•"/>
        <a:defRPr sz="2801" kern="1200">
          <a:solidFill>
            <a:schemeClr val="tx1"/>
          </a:solidFill>
          <a:latin typeface="+mn-lt"/>
          <a:ea typeface="+mn-ea"/>
          <a:cs typeface="+mn-cs"/>
        </a:defRPr>
      </a:lvl1pPr>
      <a:lvl2pPr marL="685863" indent="-228621" algn="l" defTabSz="914483" rtl="0" eaLnBrk="1" latinLnBrk="0" hangingPunct="1">
        <a:lnSpc>
          <a:spcPct val="90000"/>
        </a:lnSpc>
        <a:spcBef>
          <a:spcPts val="501"/>
        </a:spcBef>
        <a:buFont typeface="Arial" panose="020B0604020202020204" pitchFamily="34" charset="0"/>
        <a:buChar char="•"/>
        <a:defRPr sz="2400" kern="1200">
          <a:solidFill>
            <a:schemeClr val="tx1"/>
          </a:solidFill>
          <a:latin typeface="+mn-lt"/>
          <a:ea typeface="+mn-ea"/>
          <a:cs typeface="+mn-cs"/>
        </a:defRPr>
      </a:lvl2pPr>
      <a:lvl3pPr marL="1143104" indent="-228621" algn="l" defTabSz="914483" rtl="0" eaLnBrk="1" latinLnBrk="0" hangingPunct="1">
        <a:lnSpc>
          <a:spcPct val="90000"/>
        </a:lnSpc>
        <a:spcBef>
          <a:spcPts val="501"/>
        </a:spcBef>
        <a:buFont typeface="Arial" panose="020B0604020202020204" pitchFamily="34" charset="0"/>
        <a:buChar char="•"/>
        <a:defRPr sz="2000" kern="1200">
          <a:solidFill>
            <a:schemeClr val="tx1"/>
          </a:solidFill>
          <a:latin typeface="+mn-lt"/>
          <a:ea typeface="+mn-ea"/>
          <a:cs typeface="+mn-cs"/>
        </a:defRPr>
      </a:lvl3pPr>
      <a:lvl4pPr marL="1600345" indent="-228621" algn="l" defTabSz="914483" rtl="0" eaLnBrk="1" latinLnBrk="0" hangingPunct="1">
        <a:lnSpc>
          <a:spcPct val="90000"/>
        </a:lnSpc>
        <a:spcBef>
          <a:spcPts val="501"/>
        </a:spcBef>
        <a:buFont typeface="Arial" panose="020B0604020202020204" pitchFamily="34" charset="0"/>
        <a:buChar char="•"/>
        <a:defRPr sz="1801" kern="1200">
          <a:solidFill>
            <a:schemeClr val="tx1"/>
          </a:solidFill>
          <a:latin typeface="+mn-lt"/>
          <a:ea typeface="+mn-ea"/>
          <a:cs typeface="+mn-cs"/>
        </a:defRPr>
      </a:lvl4pPr>
      <a:lvl5pPr marL="2057587" indent="-228621" algn="l" defTabSz="914483" rtl="0" eaLnBrk="1" latinLnBrk="0" hangingPunct="1">
        <a:lnSpc>
          <a:spcPct val="90000"/>
        </a:lnSpc>
        <a:spcBef>
          <a:spcPts val="501"/>
        </a:spcBef>
        <a:buFont typeface="Arial" panose="020B0604020202020204" pitchFamily="34" charset="0"/>
        <a:buChar char="•"/>
        <a:defRPr sz="1801" kern="1200">
          <a:solidFill>
            <a:schemeClr val="tx1"/>
          </a:solidFill>
          <a:latin typeface="+mn-lt"/>
          <a:ea typeface="+mn-ea"/>
          <a:cs typeface="+mn-cs"/>
        </a:defRPr>
      </a:lvl5pPr>
      <a:lvl6pPr marL="2514828" indent="-228621" algn="l" defTabSz="914483" rtl="0" eaLnBrk="1" latinLnBrk="0" hangingPunct="1">
        <a:lnSpc>
          <a:spcPct val="90000"/>
        </a:lnSpc>
        <a:spcBef>
          <a:spcPts val="501"/>
        </a:spcBef>
        <a:buFont typeface="Arial" panose="020B0604020202020204" pitchFamily="34" charset="0"/>
        <a:buChar char="•"/>
        <a:defRPr sz="1801" kern="1200">
          <a:solidFill>
            <a:schemeClr val="tx1"/>
          </a:solidFill>
          <a:latin typeface="+mn-lt"/>
          <a:ea typeface="+mn-ea"/>
          <a:cs typeface="+mn-cs"/>
        </a:defRPr>
      </a:lvl6pPr>
      <a:lvl7pPr marL="2972070" indent="-228621" algn="l" defTabSz="914483" rtl="0" eaLnBrk="1" latinLnBrk="0" hangingPunct="1">
        <a:lnSpc>
          <a:spcPct val="90000"/>
        </a:lnSpc>
        <a:spcBef>
          <a:spcPts val="501"/>
        </a:spcBef>
        <a:buFont typeface="Arial" panose="020B0604020202020204" pitchFamily="34" charset="0"/>
        <a:buChar char="•"/>
        <a:defRPr sz="1801" kern="1200">
          <a:solidFill>
            <a:schemeClr val="tx1"/>
          </a:solidFill>
          <a:latin typeface="+mn-lt"/>
          <a:ea typeface="+mn-ea"/>
          <a:cs typeface="+mn-cs"/>
        </a:defRPr>
      </a:lvl7pPr>
      <a:lvl8pPr marL="3429311" indent="-228621" algn="l" defTabSz="914483" rtl="0" eaLnBrk="1" latinLnBrk="0" hangingPunct="1">
        <a:lnSpc>
          <a:spcPct val="90000"/>
        </a:lnSpc>
        <a:spcBef>
          <a:spcPts val="501"/>
        </a:spcBef>
        <a:buFont typeface="Arial" panose="020B0604020202020204" pitchFamily="34" charset="0"/>
        <a:buChar char="•"/>
        <a:defRPr sz="1801" kern="1200">
          <a:solidFill>
            <a:schemeClr val="tx1"/>
          </a:solidFill>
          <a:latin typeface="+mn-lt"/>
          <a:ea typeface="+mn-ea"/>
          <a:cs typeface="+mn-cs"/>
        </a:defRPr>
      </a:lvl8pPr>
      <a:lvl9pPr marL="3886552" indent="-228621" algn="l" defTabSz="914483" rtl="0" eaLnBrk="1" latinLnBrk="0" hangingPunct="1">
        <a:lnSpc>
          <a:spcPct val="90000"/>
        </a:lnSpc>
        <a:spcBef>
          <a:spcPts val="501"/>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83" rtl="0" eaLnBrk="1" latinLnBrk="0" hangingPunct="1">
        <a:defRPr sz="1801" kern="1200">
          <a:solidFill>
            <a:schemeClr val="tx1"/>
          </a:solidFill>
          <a:latin typeface="+mn-lt"/>
          <a:ea typeface="+mn-ea"/>
          <a:cs typeface="+mn-cs"/>
        </a:defRPr>
      </a:lvl1pPr>
      <a:lvl2pPr marL="457241" algn="l" defTabSz="914483" rtl="0" eaLnBrk="1" latinLnBrk="0" hangingPunct="1">
        <a:defRPr sz="1801" kern="1200">
          <a:solidFill>
            <a:schemeClr val="tx1"/>
          </a:solidFill>
          <a:latin typeface="+mn-lt"/>
          <a:ea typeface="+mn-ea"/>
          <a:cs typeface="+mn-cs"/>
        </a:defRPr>
      </a:lvl2pPr>
      <a:lvl3pPr marL="914483" algn="l" defTabSz="914483" rtl="0" eaLnBrk="1" latinLnBrk="0" hangingPunct="1">
        <a:defRPr sz="1801" kern="1200">
          <a:solidFill>
            <a:schemeClr val="tx1"/>
          </a:solidFill>
          <a:latin typeface="+mn-lt"/>
          <a:ea typeface="+mn-ea"/>
          <a:cs typeface="+mn-cs"/>
        </a:defRPr>
      </a:lvl3pPr>
      <a:lvl4pPr marL="1371724" algn="l" defTabSz="914483" rtl="0" eaLnBrk="1" latinLnBrk="0" hangingPunct="1">
        <a:defRPr sz="1801" kern="1200">
          <a:solidFill>
            <a:schemeClr val="tx1"/>
          </a:solidFill>
          <a:latin typeface="+mn-lt"/>
          <a:ea typeface="+mn-ea"/>
          <a:cs typeface="+mn-cs"/>
        </a:defRPr>
      </a:lvl4pPr>
      <a:lvl5pPr marL="1828966" algn="l" defTabSz="914483" rtl="0" eaLnBrk="1" latinLnBrk="0" hangingPunct="1">
        <a:defRPr sz="1801" kern="1200">
          <a:solidFill>
            <a:schemeClr val="tx1"/>
          </a:solidFill>
          <a:latin typeface="+mn-lt"/>
          <a:ea typeface="+mn-ea"/>
          <a:cs typeface="+mn-cs"/>
        </a:defRPr>
      </a:lvl5pPr>
      <a:lvl6pPr marL="2286207" algn="l" defTabSz="914483" rtl="0" eaLnBrk="1" latinLnBrk="0" hangingPunct="1">
        <a:defRPr sz="1801" kern="1200">
          <a:solidFill>
            <a:schemeClr val="tx1"/>
          </a:solidFill>
          <a:latin typeface="+mn-lt"/>
          <a:ea typeface="+mn-ea"/>
          <a:cs typeface="+mn-cs"/>
        </a:defRPr>
      </a:lvl6pPr>
      <a:lvl7pPr marL="2743448" algn="l" defTabSz="914483" rtl="0" eaLnBrk="1" latinLnBrk="0" hangingPunct="1">
        <a:defRPr sz="1801" kern="1200">
          <a:solidFill>
            <a:schemeClr val="tx1"/>
          </a:solidFill>
          <a:latin typeface="+mn-lt"/>
          <a:ea typeface="+mn-ea"/>
          <a:cs typeface="+mn-cs"/>
        </a:defRPr>
      </a:lvl7pPr>
      <a:lvl8pPr marL="3200690" algn="l" defTabSz="914483" rtl="0" eaLnBrk="1" latinLnBrk="0" hangingPunct="1">
        <a:defRPr sz="1801" kern="1200">
          <a:solidFill>
            <a:schemeClr val="tx1"/>
          </a:solidFill>
          <a:latin typeface="+mn-lt"/>
          <a:ea typeface="+mn-ea"/>
          <a:cs typeface="+mn-cs"/>
        </a:defRPr>
      </a:lvl8pPr>
      <a:lvl9pPr marL="3657932" algn="l" defTabSz="914483"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9442C96-0AB8-4713-9E95-35E734F97BBF}"/>
              </a:ext>
            </a:extLst>
          </p:cNvPr>
          <p:cNvSpPr txBox="1"/>
          <p:nvPr/>
        </p:nvSpPr>
        <p:spPr>
          <a:xfrm>
            <a:off x="1476380" y="316230"/>
            <a:ext cx="2112645" cy="215444"/>
          </a:xfrm>
          <a:prstGeom prst="rect">
            <a:avLst/>
          </a:prstGeom>
          <a:noFill/>
        </p:spPr>
        <p:txBody>
          <a:bodyPr wrap="square" rtlCol="0">
            <a:spAutoFit/>
          </a:bodyPr>
          <a:lstStyle/>
          <a:p>
            <a:pPr algn="ctr"/>
            <a:r>
              <a:rPr lang="en-US" sz="750" b="1" dirty="0">
                <a:latin typeface="Consolas" panose="020B0609020204030204" pitchFamily="49" charset="0"/>
              </a:rPr>
              <a:t>&lt;Computational Design Thinking&gt;</a:t>
            </a:r>
            <a:endParaRPr lang="en-SG" sz="750" b="1" dirty="0">
              <a:latin typeface="Consolas" panose="020B0609020204030204" pitchFamily="49" charset="0"/>
            </a:endParaRPr>
          </a:p>
        </p:txBody>
      </p:sp>
      <p:sp>
        <p:nvSpPr>
          <p:cNvPr id="9" name="TextBox 8">
            <a:extLst>
              <a:ext uri="{FF2B5EF4-FFF2-40B4-BE49-F238E27FC236}">
                <a16:creationId xmlns:a16="http://schemas.microsoft.com/office/drawing/2014/main" id="{4262F752-85C2-4F03-9855-473C62CBBB95}"/>
              </a:ext>
            </a:extLst>
          </p:cNvPr>
          <p:cNvSpPr txBox="1"/>
          <p:nvPr/>
        </p:nvSpPr>
        <p:spPr>
          <a:xfrm>
            <a:off x="6316986" y="316230"/>
            <a:ext cx="2112645" cy="215444"/>
          </a:xfrm>
          <a:prstGeom prst="rect">
            <a:avLst/>
          </a:prstGeom>
          <a:noFill/>
        </p:spPr>
        <p:txBody>
          <a:bodyPr wrap="square" rtlCol="0">
            <a:spAutoFit/>
          </a:bodyPr>
          <a:lstStyle/>
          <a:p>
            <a:pPr algn="ctr"/>
            <a:r>
              <a:rPr lang="en-US" sz="750" b="1" dirty="0">
                <a:latin typeface="Consolas" panose="020B0609020204030204" pitchFamily="49" charset="0"/>
              </a:rPr>
              <a:t>&lt;Parametric Design&gt;</a:t>
            </a:r>
            <a:endParaRPr lang="en-SG" sz="750" b="1" dirty="0">
              <a:latin typeface="Consolas" panose="020B0609020204030204" pitchFamily="49" charset="0"/>
            </a:endParaRPr>
          </a:p>
        </p:txBody>
      </p:sp>
      <p:grpSp>
        <p:nvGrpSpPr>
          <p:cNvPr id="33" name="Group 32">
            <a:extLst>
              <a:ext uri="{FF2B5EF4-FFF2-40B4-BE49-F238E27FC236}">
                <a16:creationId xmlns:a16="http://schemas.microsoft.com/office/drawing/2014/main" id="{9110C60B-FBE2-43CF-96BE-F425647B81D6}"/>
              </a:ext>
            </a:extLst>
          </p:cNvPr>
          <p:cNvGrpSpPr/>
          <p:nvPr/>
        </p:nvGrpSpPr>
        <p:grpSpPr>
          <a:xfrm>
            <a:off x="297817" y="2542543"/>
            <a:ext cx="681990" cy="514181"/>
            <a:chOff x="297817" y="2542543"/>
            <a:chExt cx="681990" cy="514181"/>
          </a:xfrm>
        </p:grpSpPr>
        <p:sp>
          <p:nvSpPr>
            <p:cNvPr id="14" name="TextBox 13">
              <a:extLst>
                <a:ext uri="{FF2B5EF4-FFF2-40B4-BE49-F238E27FC236}">
                  <a16:creationId xmlns:a16="http://schemas.microsoft.com/office/drawing/2014/main" id="{FC09A035-FD98-486F-A752-9F5F6747053A}"/>
                </a:ext>
              </a:extLst>
            </p:cNvPr>
            <p:cNvSpPr txBox="1"/>
            <p:nvPr/>
          </p:nvSpPr>
          <p:spPr>
            <a:xfrm>
              <a:off x="297817" y="2542543"/>
              <a:ext cx="681990" cy="200055"/>
            </a:xfrm>
            <a:prstGeom prst="rect">
              <a:avLst/>
            </a:prstGeom>
            <a:noFill/>
          </p:spPr>
          <p:txBody>
            <a:bodyPr wrap="square" rtlCol="0">
              <a:spAutoFit/>
            </a:bodyPr>
            <a:lstStyle/>
            <a:p>
              <a:r>
                <a:rPr lang="en-US" sz="700" dirty="0">
                  <a:solidFill>
                    <a:srgbClr val="1CB857"/>
                  </a:solidFill>
                  <a:latin typeface="Arial" panose="020B0604020202020204" pitchFamily="34" charset="0"/>
                  <a:cs typeface="Arial" panose="020B0604020202020204" pitchFamily="34" charset="0"/>
                </a:rPr>
                <a:t>Assignment</a:t>
              </a:r>
              <a:endParaRPr lang="en-SG" sz="700" dirty="0">
                <a:solidFill>
                  <a:srgbClr val="1CB857"/>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D069B560-AABE-4AC8-8B7D-5BC2C9161E49}"/>
                </a:ext>
              </a:extLst>
            </p:cNvPr>
            <p:cNvSpPr txBox="1"/>
            <p:nvPr/>
          </p:nvSpPr>
          <p:spPr>
            <a:xfrm>
              <a:off x="297817" y="2748947"/>
              <a:ext cx="681990" cy="307777"/>
            </a:xfrm>
            <a:prstGeom prst="rect">
              <a:avLst/>
            </a:prstGeom>
            <a:noFill/>
          </p:spPr>
          <p:txBody>
            <a:bodyPr wrap="square" rtlCol="0">
              <a:spAutoFit/>
            </a:bodyPr>
            <a:lstStyle/>
            <a:p>
              <a:r>
                <a:rPr lang="en-US" sz="700" dirty="0">
                  <a:latin typeface="Arial" panose="020B0604020202020204" pitchFamily="34" charset="0"/>
                  <a:cs typeface="Arial" panose="020B0604020202020204" pitchFamily="34" charset="0"/>
                </a:rPr>
                <a:t>Parametric</a:t>
              </a:r>
            </a:p>
            <a:p>
              <a:r>
                <a:rPr lang="en-US" sz="700" dirty="0">
                  <a:latin typeface="Arial" panose="020B0604020202020204" pitchFamily="34" charset="0"/>
                  <a:cs typeface="Arial" panose="020B0604020202020204" pitchFamily="34" charset="0"/>
                </a:rPr>
                <a:t>Design</a:t>
              </a:r>
              <a:endParaRPr lang="en-SG" sz="700" dirty="0">
                <a:latin typeface="Arial" panose="020B0604020202020204" pitchFamily="34" charset="0"/>
                <a:cs typeface="Arial" panose="020B0604020202020204" pitchFamily="34" charset="0"/>
              </a:endParaRPr>
            </a:p>
          </p:txBody>
        </p:sp>
      </p:grpSp>
      <p:grpSp>
        <p:nvGrpSpPr>
          <p:cNvPr id="34" name="Group 33">
            <a:extLst>
              <a:ext uri="{FF2B5EF4-FFF2-40B4-BE49-F238E27FC236}">
                <a16:creationId xmlns:a16="http://schemas.microsoft.com/office/drawing/2014/main" id="{C936C093-BCE6-42B9-A3E5-AE65D83672D9}"/>
              </a:ext>
            </a:extLst>
          </p:cNvPr>
          <p:cNvGrpSpPr/>
          <p:nvPr/>
        </p:nvGrpSpPr>
        <p:grpSpPr>
          <a:xfrm>
            <a:off x="1640206" y="2542543"/>
            <a:ext cx="681990" cy="514181"/>
            <a:chOff x="1640206" y="2542543"/>
            <a:chExt cx="681990" cy="514181"/>
          </a:xfrm>
        </p:grpSpPr>
        <p:sp>
          <p:nvSpPr>
            <p:cNvPr id="13" name="TextBox 12">
              <a:extLst>
                <a:ext uri="{FF2B5EF4-FFF2-40B4-BE49-F238E27FC236}">
                  <a16:creationId xmlns:a16="http://schemas.microsoft.com/office/drawing/2014/main" id="{DBBD251B-7304-4858-B1E3-01DB750C711E}"/>
                </a:ext>
              </a:extLst>
            </p:cNvPr>
            <p:cNvSpPr txBox="1"/>
            <p:nvPr/>
          </p:nvSpPr>
          <p:spPr>
            <a:xfrm>
              <a:off x="1640206" y="2542543"/>
              <a:ext cx="681990" cy="200055"/>
            </a:xfrm>
            <a:prstGeom prst="rect">
              <a:avLst/>
            </a:prstGeom>
            <a:noFill/>
          </p:spPr>
          <p:txBody>
            <a:bodyPr wrap="square" rtlCol="0">
              <a:spAutoFit/>
            </a:bodyPr>
            <a:lstStyle/>
            <a:p>
              <a:r>
                <a:rPr lang="en-US" sz="700" dirty="0">
                  <a:solidFill>
                    <a:srgbClr val="1CB857"/>
                  </a:solidFill>
                  <a:latin typeface="Arial" panose="020B0604020202020204" pitchFamily="34" charset="0"/>
                  <a:cs typeface="Arial" panose="020B0604020202020204" pitchFamily="34" charset="0"/>
                </a:rPr>
                <a:t>Context</a:t>
              </a:r>
              <a:endParaRPr lang="en-SG" sz="700" dirty="0">
                <a:solidFill>
                  <a:srgbClr val="1CB857"/>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6B647C9-73B6-47F9-85D1-C0CA901DDADA}"/>
                </a:ext>
              </a:extLst>
            </p:cNvPr>
            <p:cNvSpPr txBox="1"/>
            <p:nvPr/>
          </p:nvSpPr>
          <p:spPr>
            <a:xfrm>
              <a:off x="1640206" y="2748947"/>
              <a:ext cx="681990" cy="307777"/>
            </a:xfrm>
            <a:prstGeom prst="rect">
              <a:avLst/>
            </a:prstGeom>
            <a:noFill/>
          </p:spPr>
          <p:txBody>
            <a:bodyPr wrap="square" rtlCol="0">
              <a:spAutoFit/>
            </a:bodyPr>
            <a:lstStyle/>
            <a:p>
              <a:r>
                <a:rPr lang="en-US" sz="700" dirty="0" err="1">
                  <a:latin typeface="Arial" panose="020B0604020202020204" pitchFamily="34" charset="0"/>
                  <a:cs typeface="Arial" panose="020B0604020202020204" pitchFamily="34" charset="0"/>
                </a:rPr>
                <a:t>Freshmore</a:t>
              </a:r>
              <a:endParaRPr lang="en-US" sz="700" dirty="0">
                <a:latin typeface="Arial" panose="020B0604020202020204" pitchFamily="34" charset="0"/>
                <a:cs typeface="Arial" panose="020B0604020202020204" pitchFamily="34" charset="0"/>
              </a:endParaRPr>
            </a:p>
            <a:p>
              <a:r>
                <a:rPr lang="en-US" sz="700" dirty="0">
                  <a:latin typeface="Arial" panose="020B0604020202020204" pitchFamily="34" charset="0"/>
                  <a:cs typeface="Arial" panose="020B0604020202020204" pitchFamily="34" charset="0"/>
                </a:rPr>
                <a:t>Term 1</a:t>
              </a:r>
              <a:endParaRPr lang="en-SG" sz="700" dirty="0">
                <a:latin typeface="Arial" panose="020B0604020202020204" pitchFamily="34" charset="0"/>
                <a:cs typeface="Arial" panose="020B0604020202020204" pitchFamily="34" charset="0"/>
              </a:endParaRPr>
            </a:p>
          </p:txBody>
        </p:sp>
      </p:grpSp>
      <p:grpSp>
        <p:nvGrpSpPr>
          <p:cNvPr id="35" name="Group 34">
            <a:extLst>
              <a:ext uri="{FF2B5EF4-FFF2-40B4-BE49-F238E27FC236}">
                <a16:creationId xmlns:a16="http://schemas.microsoft.com/office/drawing/2014/main" id="{B8605D8F-F3E8-4B11-838C-88F7CEDB9C4E}"/>
              </a:ext>
            </a:extLst>
          </p:cNvPr>
          <p:cNvGrpSpPr/>
          <p:nvPr/>
        </p:nvGrpSpPr>
        <p:grpSpPr>
          <a:xfrm>
            <a:off x="2677160" y="2542544"/>
            <a:ext cx="901700" cy="514179"/>
            <a:chOff x="2677160" y="2542544"/>
            <a:chExt cx="901700" cy="514179"/>
          </a:xfrm>
        </p:grpSpPr>
        <p:sp>
          <p:nvSpPr>
            <p:cNvPr id="12" name="TextBox 11">
              <a:extLst>
                <a:ext uri="{FF2B5EF4-FFF2-40B4-BE49-F238E27FC236}">
                  <a16:creationId xmlns:a16="http://schemas.microsoft.com/office/drawing/2014/main" id="{EAB6C843-44FA-4E05-AFFA-6AA1A29D56EB}"/>
                </a:ext>
              </a:extLst>
            </p:cNvPr>
            <p:cNvSpPr txBox="1"/>
            <p:nvPr/>
          </p:nvSpPr>
          <p:spPr>
            <a:xfrm>
              <a:off x="2677161" y="2542544"/>
              <a:ext cx="681990" cy="200055"/>
            </a:xfrm>
            <a:prstGeom prst="rect">
              <a:avLst/>
            </a:prstGeom>
            <a:noFill/>
          </p:spPr>
          <p:txBody>
            <a:bodyPr wrap="square" rtlCol="0">
              <a:spAutoFit/>
            </a:bodyPr>
            <a:lstStyle/>
            <a:p>
              <a:r>
                <a:rPr lang="en-US" sz="700" dirty="0">
                  <a:solidFill>
                    <a:srgbClr val="1CB857"/>
                  </a:solidFill>
                  <a:latin typeface="Arial" panose="020B0604020202020204" pitchFamily="34" charset="0"/>
                  <a:cs typeface="Arial" panose="020B0604020202020204" pitchFamily="34" charset="0"/>
                </a:rPr>
                <a:t>Course</a:t>
              </a:r>
              <a:endParaRPr lang="en-SG" sz="700" dirty="0">
                <a:solidFill>
                  <a:srgbClr val="1CB857"/>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5CC03D81-F0F6-48BC-BC4E-EACC647816CC}"/>
                </a:ext>
              </a:extLst>
            </p:cNvPr>
            <p:cNvSpPr txBox="1"/>
            <p:nvPr/>
          </p:nvSpPr>
          <p:spPr>
            <a:xfrm>
              <a:off x="2677160" y="2748946"/>
              <a:ext cx="901700" cy="307777"/>
            </a:xfrm>
            <a:prstGeom prst="rect">
              <a:avLst/>
            </a:prstGeom>
            <a:noFill/>
          </p:spPr>
          <p:txBody>
            <a:bodyPr wrap="square" rtlCol="0">
              <a:spAutoFit/>
            </a:bodyPr>
            <a:lstStyle/>
            <a:p>
              <a:r>
                <a:rPr lang="en-US" sz="700" dirty="0">
                  <a:latin typeface="Arial" panose="020B0604020202020204" pitchFamily="34" charset="0"/>
                  <a:cs typeface="Arial" panose="020B0604020202020204" pitchFamily="34" charset="0"/>
                </a:rPr>
                <a:t>Computational</a:t>
              </a:r>
            </a:p>
            <a:p>
              <a:r>
                <a:rPr lang="en-US" sz="700" dirty="0">
                  <a:latin typeface="Arial" panose="020B0604020202020204" pitchFamily="34" charset="0"/>
                  <a:cs typeface="Arial" panose="020B0604020202020204" pitchFamily="34" charset="0"/>
                </a:rPr>
                <a:t>Design Thinking</a:t>
              </a:r>
              <a:endParaRPr lang="en-SG" sz="700" dirty="0">
                <a:latin typeface="Arial" panose="020B0604020202020204" pitchFamily="34" charset="0"/>
                <a:cs typeface="Arial" panose="020B0604020202020204" pitchFamily="34" charset="0"/>
              </a:endParaRPr>
            </a:p>
          </p:txBody>
        </p:sp>
      </p:grpSp>
      <p:grpSp>
        <p:nvGrpSpPr>
          <p:cNvPr id="31" name="Group 30">
            <a:extLst>
              <a:ext uri="{FF2B5EF4-FFF2-40B4-BE49-F238E27FC236}">
                <a16:creationId xmlns:a16="http://schemas.microsoft.com/office/drawing/2014/main" id="{1A92C96B-AF10-4739-AAB8-7813215EF6E8}"/>
              </a:ext>
            </a:extLst>
          </p:cNvPr>
          <p:cNvGrpSpPr/>
          <p:nvPr/>
        </p:nvGrpSpPr>
        <p:grpSpPr>
          <a:xfrm>
            <a:off x="297817" y="3286763"/>
            <a:ext cx="776928" cy="514522"/>
            <a:chOff x="297817" y="3286763"/>
            <a:chExt cx="776928" cy="514522"/>
          </a:xfrm>
        </p:grpSpPr>
        <p:sp>
          <p:nvSpPr>
            <p:cNvPr id="18" name="TextBox 17">
              <a:extLst>
                <a:ext uri="{FF2B5EF4-FFF2-40B4-BE49-F238E27FC236}">
                  <a16:creationId xmlns:a16="http://schemas.microsoft.com/office/drawing/2014/main" id="{0751637F-F485-4016-AB41-6A2716334D12}"/>
                </a:ext>
              </a:extLst>
            </p:cNvPr>
            <p:cNvSpPr txBox="1"/>
            <p:nvPr/>
          </p:nvSpPr>
          <p:spPr>
            <a:xfrm>
              <a:off x="297817" y="3286763"/>
              <a:ext cx="681990" cy="200055"/>
            </a:xfrm>
            <a:prstGeom prst="rect">
              <a:avLst/>
            </a:prstGeom>
            <a:noFill/>
          </p:spPr>
          <p:txBody>
            <a:bodyPr wrap="square" rtlCol="0">
              <a:spAutoFit/>
            </a:bodyPr>
            <a:lstStyle/>
            <a:p>
              <a:r>
                <a:rPr lang="en-US" sz="700" dirty="0">
                  <a:solidFill>
                    <a:srgbClr val="1CB857"/>
                  </a:solidFill>
                  <a:latin typeface="Arial" panose="020B0604020202020204" pitchFamily="34" charset="0"/>
                  <a:cs typeface="Arial" panose="020B0604020202020204" pitchFamily="34" charset="0"/>
                </a:rPr>
                <a:t>Student</a:t>
              </a:r>
              <a:endParaRPr lang="en-SG" sz="700" dirty="0">
                <a:solidFill>
                  <a:srgbClr val="1CB857"/>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A2AEE226-BF75-4460-9A8D-1D6E379F7CE3}"/>
                </a:ext>
              </a:extLst>
            </p:cNvPr>
            <p:cNvSpPr txBox="1"/>
            <p:nvPr/>
          </p:nvSpPr>
          <p:spPr>
            <a:xfrm>
              <a:off x="297817" y="3493508"/>
              <a:ext cx="776928" cy="307777"/>
            </a:xfrm>
            <a:prstGeom prst="rect">
              <a:avLst/>
            </a:prstGeom>
            <a:noFill/>
          </p:spPr>
          <p:txBody>
            <a:bodyPr wrap="square" rtlCol="0">
              <a:spAutoFit/>
            </a:bodyPr>
            <a:lstStyle/>
            <a:p>
              <a:r>
                <a:rPr lang="en-US" sz="700" dirty="0">
                  <a:latin typeface="Arial" panose="020B0604020202020204" pitchFamily="34" charset="0"/>
                  <a:cs typeface="Arial" panose="020B0604020202020204" pitchFamily="34" charset="0"/>
                </a:rPr>
                <a:t>Chua Heng Li</a:t>
              </a:r>
            </a:p>
            <a:p>
              <a:r>
                <a:rPr lang="en-US" sz="700" dirty="0">
                  <a:latin typeface="Arial" panose="020B0604020202020204" pitchFamily="34" charset="0"/>
                  <a:cs typeface="Arial" panose="020B0604020202020204" pitchFamily="34" charset="0"/>
                </a:rPr>
                <a:t>1008931</a:t>
              </a:r>
              <a:endParaRPr lang="en-SG" sz="700" dirty="0">
                <a:latin typeface="Arial" panose="020B0604020202020204" pitchFamily="34" charset="0"/>
                <a:cs typeface="Arial" panose="020B0604020202020204" pitchFamily="34" charset="0"/>
              </a:endParaRPr>
            </a:p>
          </p:txBody>
        </p:sp>
      </p:grpSp>
      <p:grpSp>
        <p:nvGrpSpPr>
          <p:cNvPr id="32" name="Group 31">
            <a:extLst>
              <a:ext uri="{FF2B5EF4-FFF2-40B4-BE49-F238E27FC236}">
                <a16:creationId xmlns:a16="http://schemas.microsoft.com/office/drawing/2014/main" id="{D5B09C90-7F89-449A-8830-544C0552511D}"/>
              </a:ext>
            </a:extLst>
          </p:cNvPr>
          <p:cNvGrpSpPr/>
          <p:nvPr/>
        </p:nvGrpSpPr>
        <p:grpSpPr>
          <a:xfrm>
            <a:off x="297817" y="4070353"/>
            <a:ext cx="681990" cy="615553"/>
            <a:chOff x="297817" y="4070353"/>
            <a:chExt cx="681990" cy="615553"/>
          </a:xfrm>
        </p:grpSpPr>
        <p:sp>
          <p:nvSpPr>
            <p:cNvPr id="20" name="TextBox 19">
              <a:extLst>
                <a:ext uri="{FF2B5EF4-FFF2-40B4-BE49-F238E27FC236}">
                  <a16:creationId xmlns:a16="http://schemas.microsoft.com/office/drawing/2014/main" id="{2FA36920-C5D0-47CB-8990-43A4B08D35A5}"/>
                </a:ext>
              </a:extLst>
            </p:cNvPr>
            <p:cNvSpPr txBox="1"/>
            <p:nvPr/>
          </p:nvSpPr>
          <p:spPr>
            <a:xfrm>
              <a:off x="297817" y="4070353"/>
              <a:ext cx="681990" cy="200055"/>
            </a:xfrm>
            <a:prstGeom prst="rect">
              <a:avLst/>
            </a:prstGeom>
            <a:noFill/>
          </p:spPr>
          <p:txBody>
            <a:bodyPr wrap="square" rtlCol="0">
              <a:spAutoFit/>
            </a:bodyPr>
            <a:lstStyle/>
            <a:p>
              <a:r>
                <a:rPr lang="en-US" sz="700" dirty="0">
                  <a:solidFill>
                    <a:srgbClr val="1CB857"/>
                  </a:solidFill>
                  <a:latin typeface="Arial" panose="020B0604020202020204" pitchFamily="34" charset="0"/>
                  <a:cs typeface="Arial" panose="020B0604020202020204" pitchFamily="34" charset="0"/>
                </a:rPr>
                <a:t>Instructor</a:t>
              </a:r>
              <a:endParaRPr lang="en-SG" sz="700" dirty="0">
                <a:solidFill>
                  <a:srgbClr val="1CB857"/>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0628E652-1D77-4484-A55E-A23D68A95FE8}"/>
                </a:ext>
              </a:extLst>
            </p:cNvPr>
            <p:cNvSpPr txBox="1"/>
            <p:nvPr/>
          </p:nvSpPr>
          <p:spPr>
            <a:xfrm>
              <a:off x="297817" y="4270408"/>
              <a:ext cx="681990" cy="415498"/>
            </a:xfrm>
            <a:prstGeom prst="rect">
              <a:avLst/>
            </a:prstGeom>
            <a:noFill/>
          </p:spPr>
          <p:txBody>
            <a:bodyPr wrap="square" rtlCol="0">
              <a:spAutoFit/>
            </a:bodyPr>
            <a:lstStyle/>
            <a:p>
              <a:r>
                <a:rPr lang="de-DE" sz="700" b="0" i="0" u="none" strike="noStrike" dirty="0">
                  <a:solidFill>
                    <a:srgbClr val="000000"/>
                  </a:solidFill>
                  <a:effectLst/>
                  <a:latin typeface="Arial" panose="020B0604020202020204" pitchFamily="34" charset="0"/>
                </a:rPr>
                <a:t>Yeow Zhi Wei Michael Augustine</a:t>
              </a:r>
              <a:r>
                <a:rPr lang="de-DE" sz="700" b="0" i="0" dirty="0">
                  <a:solidFill>
                    <a:srgbClr val="000000"/>
                  </a:solidFill>
                  <a:effectLst/>
                  <a:latin typeface="Arial" panose="020B0604020202020204" pitchFamily="34" charset="0"/>
                </a:rPr>
                <a:t>​</a:t>
              </a:r>
              <a:endParaRPr lang="en-US" sz="700" dirty="0">
                <a:latin typeface="Arial" panose="020B0604020202020204"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BBD29DE9-228F-4A4C-9829-A39EFB612737}"/>
              </a:ext>
            </a:extLst>
          </p:cNvPr>
          <p:cNvGrpSpPr/>
          <p:nvPr/>
        </p:nvGrpSpPr>
        <p:grpSpPr>
          <a:xfrm>
            <a:off x="3811902" y="2542545"/>
            <a:ext cx="913130" cy="406457"/>
            <a:chOff x="3681730" y="2542545"/>
            <a:chExt cx="913130" cy="406457"/>
          </a:xfrm>
        </p:grpSpPr>
        <p:sp>
          <p:nvSpPr>
            <p:cNvPr id="11" name="TextBox 10">
              <a:extLst>
                <a:ext uri="{FF2B5EF4-FFF2-40B4-BE49-F238E27FC236}">
                  <a16:creationId xmlns:a16="http://schemas.microsoft.com/office/drawing/2014/main" id="{164DB152-BE2D-4C28-99EB-218DCF655C68}"/>
                </a:ext>
              </a:extLst>
            </p:cNvPr>
            <p:cNvSpPr txBox="1"/>
            <p:nvPr/>
          </p:nvSpPr>
          <p:spPr>
            <a:xfrm>
              <a:off x="3681730" y="2542545"/>
              <a:ext cx="681990" cy="200055"/>
            </a:xfrm>
            <a:prstGeom prst="rect">
              <a:avLst/>
            </a:prstGeom>
            <a:noFill/>
          </p:spPr>
          <p:txBody>
            <a:bodyPr wrap="square" rtlCol="0">
              <a:spAutoFit/>
            </a:bodyPr>
            <a:lstStyle/>
            <a:p>
              <a:r>
                <a:rPr lang="en-US" sz="700" dirty="0">
                  <a:solidFill>
                    <a:srgbClr val="1CB857"/>
                  </a:solidFill>
                  <a:latin typeface="Arial" panose="020B0604020202020204" pitchFamily="34" charset="0"/>
                  <a:cs typeface="Arial" panose="020B0604020202020204" pitchFamily="34" charset="0"/>
                </a:rPr>
                <a:t>Date</a:t>
              </a:r>
              <a:endParaRPr lang="en-SG" sz="700" dirty="0">
                <a:solidFill>
                  <a:srgbClr val="1CB857"/>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6B8F6F72-B749-4696-A7F2-F574AB7BB21A}"/>
                </a:ext>
              </a:extLst>
            </p:cNvPr>
            <p:cNvSpPr txBox="1"/>
            <p:nvPr/>
          </p:nvSpPr>
          <p:spPr>
            <a:xfrm>
              <a:off x="3693160" y="2748947"/>
              <a:ext cx="901700" cy="200055"/>
            </a:xfrm>
            <a:prstGeom prst="rect">
              <a:avLst/>
            </a:prstGeom>
            <a:noFill/>
          </p:spPr>
          <p:txBody>
            <a:bodyPr wrap="square" rtlCol="0">
              <a:spAutoFit/>
            </a:bodyPr>
            <a:lstStyle/>
            <a:p>
              <a:r>
                <a:rPr lang="en-US" sz="700" dirty="0">
                  <a:latin typeface="Arial" panose="020B0604020202020204" pitchFamily="34" charset="0"/>
                  <a:cs typeface="Arial" panose="020B0604020202020204" pitchFamily="34" charset="0"/>
                </a:rPr>
                <a:t>2024</a:t>
              </a:r>
              <a:endParaRPr lang="en-SG" sz="700" dirty="0">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E61EFD42-7C03-4D1D-BCB7-A46D64959991}"/>
              </a:ext>
            </a:extLst>
          </p:cNvPr>
          <p:cNvGrpSpPr/>
          <p:nvPr/>
        </p:nvGrpSpPr>
        <p:grpSpPr>
          <a:xfrm>
            <a:off x="1640209" y="3279063"/>
            <a:ext cx="2967992" cy="3286524"/>
            <a:chOff x="1640209" y="3279063"/>
            <a:chExt cx="2967992" cy="3286524"/>
          </a:xfrm>
        </p:grpSpPr>
        <p:sp>
          <p:nvSpPr>
            <p:cNvPr id="24" name="TextBox 23">
              <a:extLst>
                <a:ext uri="{FF2B5EF4-FFF2-40B4-BE49-F238E27FC236}">
                  <a16:creationId xmlns:a16="http://schemas.microsoft.com/office/drawing/2014/main" id="{4AE40446-C29D-488D-8DD7-69E6FBAFA698}"/>
                </a:ext>
              </a:extLst>
            </p:cNvPr>
            <p:cNvSpPr txBox="1"/>
            <p:nvPr/>
          </p:nvSpPr>
          <p:spPr>
            <a:xfrm>
              <a:off x="1640209" y="3279063"/>
              <a:ext cx="2967991" cy="215444"/>
            </a:xfrm>
            <a:prstGeom prst="rect">
              <a:avLst/>
            </a:prstGeom>
            <a:noFill/>
          </p:spPr>
          <p:txBody>
            <a:bodyPr wrap="square" rtlCol="0">
              <a:spAutoFit/>
            </a:bodyPr>
            <a:lstStyle/>
            <a:p>
              <a:r>
                <a:rPr lang="en-US" sz="800" b="1" dirty="0">
                  <a:solidFill>
                    <a:srgbClr val="B31261"/>
                  </a:solidFill>
                  <a:latin typeface="Consolas" panose="020B0609020204030204" pitchFamily="49" charset="0"/>
                </a:rPr>
                <a:t>&lt;Description and Overview&gt;</a:t>
              </a:r>
              <a:endParaRPr lang="en-SG" sz="800" b="1" dirty="0">
                <a:solidFill>
                  <a:srgbClr val="B31261"/>
                </a:solidFill>
                <a:latin typeface="Consolas" panose="020B0609020204030204" pitchFamily="49" charset="0"/>
              </a:endParaRPr>
            </a:p>
          </p:txBody>
        </p:sp>
        <p:sp>
          <p:nvSpPr>
            <p:cNvPr id="25" name="Rectangle 24">
              <a:extLst>
                <a:ext uri="{FF2B5EF4-FFF2-40B4-BE49-F238E27FC236}">
                  <a16:creationId xmlns:a16="http://schemas.microsoft.com/office/drawing/2014/main" id="{E90D6533-B264-49D3-908E-494EECA5837B}"/>
                </a:ext>
              </a:extLst>
            </p:cNvPr>
            <p:cNvSpPr/>
            <p:nvPr/>
          </p:nvSpPr>
          <p:spPr>
            <a:xfrm>
              <a:off x="1640210" y="3394714"/>
              <a:ext cx="2967991" cy="31708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800" dirty="0">
                  <a:solidFill>
                    <a:srgbClr val="B31261"/>
                  </a:solidFill>
                  <a:latin typeface="Consolas" panose="020B0609020204030204" pitchFamily="49" charset="0"/>
                </a:rPr>
                <a:t>This structure is a 3D rendered object that is constructed with the use of mathematical concepts. The design contains three repeating spiral-like structures that gets more complex from left to the right. </a:t>
              </a:r>
            </a:p>
            <a:p>
              <a:endParaRPr lang="en-US" sz="800" dirty="0">
                <a:solidFill>
                  <a:srgbClr val="B31261"/>
                </a:solidFill>
                <a:latin typeface="Consolas" panose="020B0609020204030204" pitchFamily="49" charset="0"/>
              </a:endParaRPr>
            </a:p>
            <a:p>
              <a:r>
                <a:rPr lang="en-US" sz="800" dirty="0">
                  <a:solidFill>
                    <a:srgbClr val="B31261"/>
                  </a:solidFill>
                  <a:latin typeface="Consolas" panose="020B0609020204030204" pitchFamily="49" charset="0"/>
                </a:rPr>
                <a:t>It starts with a wave like pattern like that of a sine wave. With variation of the parameters and modification of mathematical values, this structure is produced with sine waves of different periods and amplitudes. </a:t>
              </a:r>
            </a:p>
            <a:p>
              <a:endParaRPr lang="en-US" sz="800" dirty="0">
                <a:solidFill>
                  <a:srgbClr val="B31261"/>
                </a:solidFill>
                <a:latin typeface="Consolas" panose="020B0609020204030204" pitchFamily="49" charset="0"/>
              </a:endParaRPr>
            </a:p>
            <a:p>
              <a:r>
                <a:rPr lang="en-US" sz="800" dirty="0">
                  <a:solidFill>
                    <a:srgbClr val="B31261"/>
                  </a:solidFill>
                  <a:latin typeface="Consolas" panose="020B0609020204030204" pitchFamily="49" charset="0"/>
                </a:rPr>
                <a:t>Hence the x and y values vary, and coordinates are transposed to different locations, creating the structure with spiral like shapes.</a:t>
              </a:r>
            </a:p>
            <a:p>
              <a:endParaRPr lang="en-US" sz="800" dirty="0">
                <a:solidFill>
                  <a:srgbClr val="B31261"/>
                </a:solidFill>
                <a:latin typeface="Consolas" panose="020B0609020204030204" pitchFamily="49" charset="0"/>
              </a:endParaRPr>
            </a:p>
            <a:p>
              <a:r>
                <a:rPr lang="en-US" sz="800" dirty="0">
                  <a:solidFill>
                    <a:srgbClr val="B31261"/>
                  </a:solidFill>
                  <a:latin typeface="Consolas" panose="020B0609020204030204" pitchFamily="49" charset="0"/>
                </a:rPr>
                <a:t>This model is then transposed onto a square surface to be 3D printed.</a:t>
              </a:r>
            </a:p>
            <a:p>
              <a:endParaRPr lang="en-US" sz="800" dirty="0">
                <a:solidFill>
                  <a:srgbClr val="B31261"/>
                </a:solidFill>
                <a:latin typeface="Consolas" panose="020B0609020204030204" pitchFamily="49" charset="0"/>
              </a:endParaRPr>
            </a:p>
          </p:txBody>
        </p:sp>
      </p:grpSp>
      <p:sp>
        <p:nvSpPr>
          <p:cNvPr id="28" name="TextBox 27">
            <a:extLst>
              <a:ext uri="{FF2B5EF4-FFF2-40B4-BE49-F238E27FC236}">
                <a16:creationId xmlns:a16="http://schemas.microsoft.com/office/drawing/2014/main" id="{F65F1D03-BCF8-4F9D-A32D-3A629A08BDC3}"/>
              </a:ext>
            </a:extLst>
          </p:cNvPr>
          <p:cNvSpPr txBox="1"/>
          <p:nvPr/>
        </p:nvSpPr>
        <p:spPr>
          <a:xfrm>
            <a:off x="323854" y="323924"/>
            <a:ext cx="68199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P1</a:t>
            </a:r>
            <a:endParaRPr lang="en-SG" sz="600"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0A290914-78CA-407F-981D-11783931DAD9}"/>
              </a:ext>
            </a:extLst>
          </p:cNvPr>
          <p:cNvSpPr txBox="1"/>
          <p:nvPr/>
        </p:nvSpPr>
        <p:spPr>
          <a:xfrm>
            <a:off x="8863967" y="316230"/>
            <a:ext cx="681990" cy="184666"/>
          </a:xfrm>
          <a:prstGeom prst="rect">
            <a:avLst/>
          </a:prstGeom>
          <a:noFill/>
        </p:spPr>
        <p:txBody>
          <a:bodyPr wrap="square" rtlCol="0">
            <a:spAutoFit/>
          </a:bodyPr>
          <a:lstStyle/>
          <a:p>
            <a:pPr algn="r"/>
            <a:r>
              <a:rPr lang="en-US" sz="600" dirty="0">
                <a:latin typeface="Arial" panose="020B0604020202020204" pitchFamily="34" charset="0"/>
                <a:cs typeface="Arial" panose="020B0604020202020204" pitchFamily="34" charset="0"/>
              </a:rPr>
              <a:t>P1</a:t>
            </a:r>
            <a:endParaRPr lang="en-SG" sz="600" dirty="0">
              <a:latin typeface="Arial" panose="020B0604020202020204" pitchFamily="34" charset="0"/>
              <a:cs typeface="Arial" panose="020B0604020202020204" pitchFamily="34" charset="0"/>
            </a:endParaRPr>
          </a:p>
        </p:txBody>
      </p:sp>
      <p:pic>
        <p:nvPicPr>
          <p:cNvPr id="2" name="Picture 1" descr="A purple square with wavy lines&#10;&#10;Description automatically generated">
            <a:extLst>
              <a:ext uri="{FF2B5EF4-FFF2-40B4-BE49-F238E27FC236}">
                <a16:creationId xmlns:a16="http://schemas.microsoft.com/office/drawing/2014/main" id="{F95F60E4-C460-F13F-AF97-8D858917CFEB}"/>
              </a:ext>
            </a:extLst>
          </p:cNvPr>
          <p:cNvPicPr>
            <a:picLocks noChangeAspect="1"/>
          </p:cNvPicPr>
          <p:nvPr/>
        </p:nvPicPr>
        <p:blipFill>
          <a:blip r:embed="rId2">
            <a:extLst>
              <a:ext uri="{28A0092B-C50C-407E-A947-70E740481C1C}">
                <a14:useLocalDpi xmlns:a14="http://schemas.microsoft.com/office/drawing/2010/main" val="0"/>
              </a:ext>
            </a:extLst>
          </a:blip>
          <a:srcRect t="414" r="6156"/>
          <a:stretch/>
        </p:blipFill>
        <p:spPr>
          <a:xfrm>
            <a:off x="4838213" y="1823012"/>
            <a:ext cx="4707743" cy="4131789"/>
          </a:xfrm>
          <a:prstGeom prst="rect">
            <a:avLst/>
          </a:prstGeom>
        </p:spPr>
      </p:pic>
    </p:spTree>
    <p:extLst>
      <p:ext uri="{BB962C8B-B14F-4D97-AF65-F5344CB8AC3E}">
        <p14:creationId xmlns:p14="http://schemas.microsoft.com/office/powerpoint/2010/main" val="2312092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9442C96-0AB8-4713-9E95-35E734F97BBF}"/>
              </a:ext>
            </a:extLst>
          </p:cNvPr>
          <p:cNvSpPr txBox="1"/>
          <p:nvPr/>
        </p:nvSpPr>
        <p:spPr>
          <a:xfrm>
            <a:off x="1476380" y="316230"/>
            <a:ext cx="2112645" cy="215444"/>
          </a:xfrm>
          <a:prstGeom prst="rect">
            <a:avLst/>
          </a:prstGeom>
          <a:noFill/>
        </p:spPr>
        <p:txBody>
          <a:bodyPr wrap="square" rtlCol="0">
            <a:spAutoFit/>
          </a:bodyPr>
          <a:lstStyle/>
          <a:p>
            <a:pPr algn="ctr"/>
            <a:r>
              <a:rPr lang="en-US" sz="750" b="1" dirty="0">
                <a:latin typeface="Consolas" panose="020B0609020204030204" pitchFamily="49" charset="0"/>
              </a:rPr>
              <a:t>&lt;Computational Design Thinking&gt;</a:t>
            </a:r>
            <a:endParaRPr lang="en-SG" sz="750" b="1" dirty="0">
              <a:latin typeface="Consolas" panose="020B0609020204030204" pitchFamily="49" charset="0"/>
            </a:endParaRPr>
          </a:p>
        </p:txBody>
      </p:sp>
      <p:sp>
        <p:nvSpPr>
          <p:cNvPr id="9" name="TextBox 8">
            <a:extLst>
              <a:ext uri="{FF2B5EF4-FFF2-40B4-BE49-F238E27FC236}">
                <a16:creationId xmlns:a16="http://schemas.microsoft.com/office/drawing/2014/main" id="{4262F752-85C2-4F03-9855-473C62CBBB95}"/>
              </a:ext>
            </a:extLst>
          </p:cNvPr>
          <p:cNvSpPr txBox="1"/>
          <p:nvPr/>
        </p:nvSpPr>
        <p:spPr>
          <a:xfrm>
            <a:off x="6316986" y="316230"/>
            <a:ext cx="2112645" cy="215444"/>
          </a:xfrm>
          <a:prstGeom prst="rect">
            <a:avLst/>
          </a:prstGeom>
          <a:noFill/>
        </p:spPr>
        <p:txBody>
          <a:bodyPr wrap="square" rtlCol="0">
            <a:spAutoFit/>
          </a:bodyPr>
          <a:lstStyle/>
          <a:p>
            <a:pPr algn="ctr"/>
            <a:r>
              <a:rPr lang="en-US" sz="750" b="1" dirty="0">
                <a:latin typeface="Consolas" panose="020B0609020204030204" pitchFamily="49" charset="0"/>
              </a:rPr>
              <a:t>&lt;Parametric Design&gt;</a:t>
            </a:r>
            <a:endParaRPr lang="en-SG" sz="750" b="1" dirty="0">
              <a:latin typeface="Consolas" panose="020B0609020204030204" pitchFamily="49" charset="0"/>
            </a:endParaRPr>
          </a:p>
        </p:txBody>
      </p:sp>
      <p:sp>
        <p:nvSpPr>
          <p:cNvPr id="27" name="TextBox 26">
            <a:extLst>
              <a:ext uri="{FF2B5EF4-FFF2-40B4-BE49-F238E27FC236}">
                <a16:creationId xmlns:a16="http://schemas.microsoft.com/office/drawing/2014/main" id="{5BA5B394-3F8D-457E-8AC0-0184A64183B0}"/>
              </a:ext>
            </a:extLst>
          </p:cNvPr>
          <p:cNvSpPr txBox="1"/>
          <p:nvPr/>
        </p:nvSpPr>
        <p:spPr>
          <a:xfrm>
            <a:off x="323854" y="323924"/>
            <a:ext cx="68199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P2</a:t>
            </a:r>
            <a:endParaRPr lang="en-SG" sz="600"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54F2F363-23C8-4FD2-9316-20E10620CDFC}"/>
              </a:ext>
            </a:extLst>
          </p:cNvPr>
          <p:cNvSpPr txBox="1"/>
          <p:nvPr/>
        </p:nvSpPr>
        <p:spPr>
          <a:xfrm>
            <a:off x="8863967" y="316230"/>
            <a:ext cx="681990" cy="184666"/>
          </a:xfrm>
          <a:prstGeom prst="rect">
            <a:avLst/>
          </a:prstGeom>
          <a:noFill/>
        </p:spPr>
        <p:txBody>
          <a:bodyPr wrap="square" rtlCol="0">
            <a:spAutoFit/>
          </a:bodyPr>
          <a:lstStyle/>
          <a:p>
            <a:pPr algn="r"/>
            <a:r>
              <a:rPr lang="en-US" sz="600" dirty="0">
                <a:latin typeface="Arial" panose="020B0604020202020204" pitchFamily="34" charset="0"/>
                <a:cs typeface="Arial" panose="020B0604020202020204" pitchFamily="34" charset="0"/>
              </a:rPr>
              <a:t>P2</a:t>
            </a:r>
            <a:endParaRPr lang="en-SG" sz="600" dirty="0">
              <a:latin typeface="Arial" panose="020B0604020202020204" pitchFamily="34" charset="0"/>
              <a:cs typeface="Arial" panose="020B0604020202020204" pitchFamily="34" charset="0"/>
            </a:endParaRPr>
          </a:p>
        </p:txBody>
      </p:sp>
      <p:grpSp>
        <p:nvGrpSpPr>
          <p:cNvPr id="59" name="Group 58">
            <a:extLst>
              <a:ext uri="{FF2B5EF4-FFF2-40B4-BE49-F238E27FC236}">
                <a16:creationId xmlns:a16="http://schemas.microsoft.com/office/drawing/2014/main" id="{1FEC7F7C-EF7A-4574-B7E5-5D021AECE7AB}"/>
              </a:ext>
            </a:extLst>
          </p:cNvPr>
          <p:cNvGrpSpPr/>
          <p:nvPr/>
        </p:nvGrpSpPr>
        <p:grpSpPr>
          <a:xfrm>
            <a:off x="297817" y="4238140"/>
            <a:ext cx="1038224" cy="621902"/>
            <a:chOff x="297817" y="4663443"/>
            <a:chExt cx="1038224" cy="621902"/>
          </a:xfrm>
        </p:grpSpPr>
        <p:sp>
          <p:nvSpPr>
            <p:cNvPr id="35" name="TextBox 34">
              <a:extLst>
                <a:ext uri="{FF2B5EF4-FFF2-40B4-BE49-F238E27FC236}">
                  <a16:creationId xmlns:a16="http://schemas.microsoft.com/office/drawing/2014/main" id="{F8EDB620-DB28-4456-9A13-CBA8F722843A}"/>
                </a:ext>
              </a:extLst>
            </p:cNvPr>
            <p:cNvSpPr txBox="1"/>
            <p:nvPr/>
          </p:nvSpPr>
          <p:spPr>
            <a:xfrm>
              <a:off x="297817" y="4663443"/>
              <a:ext cx="681990" cy="200055"/>
            </a:xfrm>
            <a:prstGeom prst="rect">
              <a:avLst/>
            </a:prstGeom>
            <a:noFill/>
          </p:spPr>
          <p:txBody>
            <a:bodyPr wrap="square" rtlCol="0">
              <a:spAutoFit/>
            </a:bodyPr>
            <a:lstStyle/>
            <a:p>
              <a:r>
                <a:rPr lang="en-US" sz="700" dirty="0">
                  <a:solidFill>
                    <a:srgbClr val="1CB857"/>
                  </a:solidFill>
                  <a:latin typeface="Arial" panose="020B0604020202020204" pitchFamily="34" charset="0"/>
                  <a:cs typeface="Arial" panose="020B0604020202020204" pitchFamily="34" charset="0"/>
                </a:rPr>
                <a:t>Captions</a:t>
              </a:r>
              <a:endParaRPr lang="en-SG" sz="700" dirty="0">
                <a:solidFill>
                  <a:srgbClr val="1CB857"/>
                </a:solidFill>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F0533971-23B1-41F5-B25E-84F42B7B83FC}"/>
                </a:ext>
              </a:extLst>
            </p:cNvPr>
            <p:cNvSpPr txBox="1"/>
            <p:nvPr/>
          </p:nvSpPr>
          <p:spPr>
            <a:xfrm>
              <a:off x="297817" y="4869847"/>
              <a:ext cx="1038224" cy="415498"/>
            </a:xfrm>
            <a:prstGeom prst="rect">
              <a:avLst/>
            </a:prstGeom>
            <a:noFill/>
          </p:spPr>
          <p:txBody>
            <a:bodyPr wrap="square" rtlCol="0">
              <a:spAutoFit/>
            </a:bodyPr>
            <a:lstStyle/>
            <a:p>
              <a:r>
                <a:rPr lang="en-US" sz="700" dirty="0">
                  <a:latin typeface="Arial" panose="020B0604020202020204" pitchFamily="34" charset="0"/>
                  <a:cs typeface="Arial" panose="020B0604020202020204" pitchFamily="34" charset="0"/>
                </a:rPr>
                <a:t>01 Grasshopper Circuit</a:t>
              </a:r>
              <a:endParaRPr lang="en-SG" sz="700" dirty="0">
                <a:latin typeface="Arial" panose="020B0604020202020204" pitchFamily="34" charset="0"/>
                <a:cs typeface="Arial" panose="020B0604020202020204" pitchFamily="34" charset="0"/>
              </a:endParaRPr>
            </a:p>
            <a:p>
              <a:endParaRPr lang="en-SG" sz="700" dirty="0">
                <a:latin typeface="Arial" panose="020B0604020202020204" pitchFamily="34" charset="0"/>
                <a:cs typeface="Arial" panose="020B0604020202020204" pitchFamily="34" charset="0"/>
              </a:endParaRPr>
            </a:p>
          </p:txBody>
        </p:sp>
      </p:grpSp>
      <p:sp>
        <p:nvSpPr>
          <p:cNvPr id="55" name="Rectangle 54">
            <a:extLst>
              <a:ext uri="{FF2B5EF4-FFF2-40B4-BE49-F238E27FC236}">
                <a16:creationId xmlns:a16="http://schemas.microsoft.com/office/drawing/2014/main" id="{4C05C958-0539-4A38-A7F1-2D381B2EB402}"/>
              </a:ext>
            </a:extLst>
          </p:cNvPr>
          <p:cNvSpPr/>
          <p:nvPr/>
        </p:nvSpPr>
        <p:spPr>
          <a:xfrm>
            <a:off x="713422" y="5721816"/>
            <a:ext cx="622619" cy="62689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54864" rIns="18288" bIns="0" rtlCol="0" anchor="b"/>
          <a:lstStyle/>
          <a:p>
            <a:pPr algn="r"/>
            <a:r>
              <a:rPr lang="en-US" sz="800" b="1" dirty="0">
                <a:solidFill>
                  <a:srgbClr val="1CB857"/>
                </a:solidFill>
              </a:rPr>
              <a:t>01</a:t>
            </a:r>
            <a:endParaRPr lang="en-SG" sz="800" b="1" dirty="0">
              <a:solidFill>
                <a:srgbClr val="1CB857"/>
              </a:solidFill>
            </a:endParaRPr>
          </a:p>
        </p:txBody>
      </p:sp>
      <p:pic>
        <p:nvPicPr>
          <p:cNvPr id="3" name="Picture 2" descr="A computer screen shot of a computer&#10;&#10;Description automatically generated">
            <a:extLst>
              <a:ext uri="{FF2B5EF4-FFF2-40B4-BE49-F238E27FC236}">
                <a16:creationId xmlns:a16="http://schemas.microsoft.com/office/drawing/2014/main" id="{85607A73-878B-A2F2-8DD1-E4ACAC28AE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2983" y="508590"/>
            <a:ext cx="6776369" cy="4349148"/>
          </a:xfrm>
          <a:prstGeom prst="rect">
            <a:avLst/>
          </a:prstGeom>
        </p:spPr>
      </p:pic>
      <p:sp>
        <p:nvSpPr>
          <p:cNvPr id="7" name="TextBox 6">
            <a:extLst>
              <a:ext uri="{FF2B5EF4-FFF2-40B4-BE49-F238E27FC236}">
                <a16:creationId xmlns:a16="http://schemas.microsoft.com/office/drawing/2014/main" id="{C7103B5D-9C5A-EF8B-6ED0-684D2B506B52}"/>
              </a:ext>
            </a:extLst>
          </p:cNvPr>
          <p:cNvSpPr txBox="1"/>
          <p:nvPr/>
        </p:nvSpPr>
        <p:spPr>
          <a:xfrm>
            <a:off x="1628451" y="5004204"/>
            <a:ext cx="7765434" cy="1446550"/>
          </a:xfrm>
          <a:prstGeom prst="rect">
            <a:avLst/>
          </a:prstGeom>
          <a:noFill/>
        </p:spPr>
        <p:txBody>
          <a:bodyPr wrap="square" rtlCol="0">
            <a:spAutoFit/>
          </a:bodyPr>
          <a:lstStyle/>
          <a:p>
            <a:r>
              <a:rPr lang="en-SG" sz="800" b="1" dirty="0">
                <a:solidFill>
                  <a:srgbClr val="B31261"/>
                </a:solidFill>
                <a:latin typeface="Consolas" panose="020B0609020204030204" pitchFamily="49" charset="0"/>
              </a:rPr>
              <a:t>&lt;Grasshopper Circuit&gt;</a:t>
            </a:r>
          </a:p>
          <a:p>
            <a:r>
              <a:rPr lang="en-SG" sz="800" dirty="0">
                <a:solidFill>
                  <a:srgbClr val="B31261"/>
                </a:solidFill>
                <a:latin typeface="Consolas" panose="020B0609020204030204" pitchFamily="49" charset="0"/>
              </a:rPr>
              <a:t>The grasshopper circuit plots points that are used to create a surface. The z-coordinates of the points are dependent on an equation in the python script. The surface is then transposed onto the 3D square surface such that it can be easier to 3D print.</a:t>
            </a:r>
          </a:p>
          <a:p>
            <a:endParaRPr lang="en-SG" sz="800" dirty="0">
              <a:solidFill>
                <a:srgbClr val="B31261"/>
              </a:solidFill>
              <a:latin typeface="Consolas" panose="020B0609020204030204" pitchFamily="49" charset="0"/>
            </a:endParaRPr>
          </a:p>
          <a:p>
            <a:r>
              <a:rPr lang="en-SG" sz="800" dirty="0">
                <a:solidFill>
                  <a:srgbClr val="B31261"/>
                </a:solidFill>
                <a:latin typeface="Consolas" panose="020B0609020204030204" pitchFamily="49" charset="0"/>
              </a:rPr>
              <a:t>From the given layout under data landscapes that was gone through in lesson, I have adjusted the equation in the python script relating the variables by adding another sine function with a different relationship between </a:t>
            </a:r>
            <a:r>
              <a:rPr lang="en-SG" sz="800" b="1" dirty="0" err="1">
                <a:solidFill>
                  <a:srgbClr val="B31261"/>
                </a:solidFill>
                <a:latin typeface="Consolas" panose="020B0609020204030204" pitchFamily="49" charset="0"/>
              </a:rPr>
              <a:t>Sx</a:t>
            </a:r>
            <a:r>
              <a:rPr lang="en-SG" sz="800" dirty="0">
                <a:solidFill>
                  <a:srgbClr val="B31261"/>
                </a:solidFill>
                <a:latin typeface="Consolas" panose="020B0609020204030204" pitchFamily="49" charset="0"/>
              </a:rPr>
              <a:t> and </a:t>
            </a:r>
            <a:r>
              <a:rPr lang="en-SG" sz="800" b="1" dirty="0">
                <a:solidFill>
                  <a:srgbClr val="B31261"/>
                </a:solidFill>
                <a:latin typeface="Consolas" panose="020B0609020204030204" pitchFamily="49" charset="0"/>
              </a:rPr>
              <a:t>Sy</a:t>
            </a:r>
            <a:r>
              <a:rPr lang="en-SG" sz="800" dirty="0">
                <a:solidFill>
                  <a:srgbClr val="B31261"/>
                </a:solidFill>
                <a:latin typeface="Consolas" panose="020B0609020204030204" pitchFamily="49" charset="0"/>
              </a:rPr>
              <a:t>. This adjustment is to show that with just a simple sine function, it can be used to create an even more complex model.  </a:t>
            </a:r>
          </a:p>
          <a:p>
            <a:endParaRPr lang="en-SG" sz="800" dirty="0">
              <a:solidFill>
                <a:srgbClr val="B31261"/>
              </a:solidFill>
              <a:latin typeface="Consolas" panose="020B0609020204030204" pitchFamily="49" charset="0"/>
            </a:endParaRPr>
          </a:p>
          <a:p>
            <a:r>
              <a:rPr lang="en-SG" sz="800" dirty="0">
                <a:solidFill>
                  <a:srgbClr val="B31261"/>
                </a:solidFill>
                <a:latin typeface="Consolas" panose="020B0609020204030204" pitchFamily="49" charset="0"/>
              </a:rPr>
              <a:t>By varying the parameters, I was able to arrive at a more different model compared to the normal sine wave model at the beginning. Due to the requirement of printing the model, a simpler model was what I arrived at due to the 3D printing constraints.</a:t>
            </a:r>
          </a:p>
          <a:p>
            <a:endParaRPr lang="en-SG" sz="800" b="1" dirty="0">
              <a:solidFill>
                <a:srgbClr val="B31261"/>
              </a:solidFill>
              <a:latin typeface="Consolas" panose="020B0609020204030204" pitchFamily="49" charset="0"/>
            </a:endParaRPr>
          </a:p>
        </p:txBody>
      </p:sp>
    </p:spTree>
    <p:extLst>
      <p:ext uri="{BB962C8B-B14F-4D97-AF65-F5344CB8AC3E}">
        <p14:creationId xmlns:p14="http://schemas.microsoft.com/office/powerpoint/2010/main" val="4089504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8FC1FD-4116-4F9F-AB03-B51954A08658}"/>
              </a:ext>
            </a:extLst>
          </p:cNvPr>
          <p:cNvSpPr txBox="1"/>
          <p:nvPr/>
        </p:nvSpPr>
        <p:spPr>
          <a:xfrm>
            <a:off x="1476380" y="316230"/>
            <a:ext cx="2112645" cy="215444"/>
          </a:xfrm>
          <a:prstGeom prst="rect">
            <a:avLst/>
          </a:prstGeom>
          <a:noFill/>
        </p:spPr>
        <p:txBody>
          <a:bodyPr wrap="square" rtlCol="0">
            <a:spAutoFit/>
          </a:bodyPr>
          <a:lstStyle/>
          <a:p>
            <a:pPr algn="ctr"/>
            <a:r>
              <a:rPr lang="en-US" sz="750" b="1" dirty="0">
                <a:latin typeface="Consolas" panose="020B0609020204030204" pitchFamily="49" charset="0"/>
              </a:rPr>
              <a:t>&lt;Computational Design Thinking&gt;</a:t>
            </a:r>
            <a:endParaRPr lang="en-SG" sz="750" b="1" dirty="0">
              <a:latin typeface="Consolas" panose="020B0609020204030204" pitchFamily="49" charset="0"/>
            </a:endParaRPr>
          </a:p>
        </p:txBody>
      </p:sp>
      <p:sp>
        <p:nvSpPr>
          <p:cNvPr id="5" name="TextBox 4">
            <a:extLst>
              <a:ext uri="{FF2B5EF4-FFF2-40B4-BE49-F238E27FC236}">
                <a16:creationId xmlns:a16="http://schemas.microsoft.com/office/drawing/2014/main" id="{8CD0D2F6-851E-4060-A070-3437C942866E}"/>
              </a:ext>
            </a:extLst>
          </p:cNvPr>
          <p:cNvSpPr txBox="1"/>
          <p:nvPr/>
        </p:nvSpPr>
        <p:spPr>
          <a:xfrm>
            <a:off x="6316986" y="316230"/>
            <a:ext cx="2112645" cy="215444"/>
          </a:xfrm>
          <a:prstGeom prst="rect">
            <a:avLst/>
          </a:prstGeom>
          <a:noFill/>
        </p:spPr>
        <p:txBody>
          <a:bodyPr wrap="square" rtlCol="0">
            <a:spAutoFit/>
          </a:bodyPr>
          <a:lstStyle/>
          <a:p>
            <a:pPr algn="ctr"/>
            <a:r>
              <a:rPr lang="en-US" sz="750" b="1" dirty="0">
                <a:latin typeface="Consolas" panose="020B0609020204030204" pitchFamily="49" charset="0"/>
              </a:rPr>
              <a:t>&lt;Parametric Design&gt;</a:t>
            </a:r>
            <a:endParaRPr lang="en-SG" sz="750" b="1" dirty="0">
              <a:latin typeface="Consolas" panose="020B0609020204030204" pitchFamily="49" charset="0"/>
            </a:endParaRPr>
          </a:p>
        </p:txBody>
      </p:sp>
      <p:sp>
        <p:nvSpPr>
          <p:cNvPr id="6" name="TextBox 5">
            <a:extLst>
              <a:ext uri="{FF2B5EF4-FFF2-40B4-BE49-F238E27FC236}">
                <a16:creationId xmlns:a16="http://schemas.microsoft.com/office/drawing/2014/main" id="{A7805250-1096-413A-99CD-0A595205E907}"/>
              </a:ext>
            </a:extLst>
          </p:cNvPr>
          <p:cNvSpPr txBox="1"/>
          <p:nvPr/>
        </p:nvSpPr>
        <p:spPr>
          <a:xfrm>
            <a:off x="323854" y="323924"/>
            <a:ext cx="68199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P3</a:t>
            </a:r>
            <a:endParaRPr lang="en-SG" sz="6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8ADEB79-E814-474C-8923-C7FAEA1599B6}"/>
              </a:ext>
            </a:extLst>
          </p:cNvPr>
          <p:cNvSpPr txBox="1"/>
          <p:nvPr/>
        </p:nvSpPr>
        <p:spPr>
          <a:xfrm>
            <a:off x="8863967" y="316230"/>
            <a:ext cx="681990" cy="184666"/>
          </a:xfrm>
          <a:prstGeom prst="rect">
            <a:avLst/>
          </a:prstGeom>
          <a:noFill/>
        </p:spPr>
        <p:txBody>
          <a:bodyPr wrap="square" rtlCol="0">
            <a:spAutoFit/>
          </a:bodyPr>
          <a:lstStyle/>
          <a:p>
            <a:pPr algn="r"/>
            <a:r>
              <a:rPr lang="en-US" sz="600" dirty="0">
                <a:latin typeface="Arial" panose="020B0604020202020204" pitchFamily="34" charset="0"/>
                <a:cs typeface="Arial" panose="020B0604020202020204" pitchFamily="34" charset="0"/>
              </a:rPr>
              <a:t>P3</a:t>
            </a:r>
            <a:endParaRPr lang="en-SG" sz="600"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18EA83DC-3E8E-4DB5-9B82-03A2149EF45F}"/>
              </a:ext>
            </a:extLst>
          </p:cNvPr>
          <p:cNvGrpSpPr/>
          <p:nvPr/>
        </p:nvGrpSpPr>
        <p:grpSpPr>
          <a:xfrm>
            <a:off x="297817" y="4669029"/>
            <a:ext cx="1038224" cy="621902"/>
            <a:chOff x="297817" y="4663443"/>
            <a:chExt cx="1038224" cy="621902"/>
          </a:xfrm>
        </p:grpSpPr>
        <p:sp>
          <p:nvSpPr>
            <p:cNvPr id="35" name="TextBox 34">
              <a:extLst>
                <a:ext uri="{FF2B5EF4-FFF2-40B4-BE49-F238E27FC236}">
                  <a16:creationId xmlns:a16="http://schemas.microsoft.com/office/drawing/2014/main" id="{B1C8FFB9-AFFA-4E64-9B25-9EB3107CA119}"/>
                </a:ext>
              </a:extLst>
            </p:cNvPr>
            <p:cNvSpPr txBox="1"/>
            <p:nvPr/>
          </p:nvSpPr>
          <p:spPr>
            <a:xfrm>
              <a:off x="297817" y="4663443"/>
              <a:ext cx="681990" cy="200055"/>
            </a:xfrm>
            <a:prstGeom prst="rect">
              <a:avLst/>
            </a:prstGeom>
            <a:noFill/>
          </p:spPr>
          <p:txBody>
            <a:bodyPr wrap="square" rtlCol="0">
              <a:spAutoFit/>
            </a:bodyPr>
            <a:lstStyle/>
            <a:p>
              <a:r>
                <a:rPr lang="en-US" sz="700" dirty="0">
                  <a:solidFill>
                    <a:srgbClr val="1CB857"/>
                  </a:solidFill>
                  <a:latin typeface="Arial" panose="020B0604020202020204" pitchFamily="34" charset="0"/>
                  <a:cs typeface="Arial" panose="020B0604020202020204" pitchFamily="34" charset="0"/>
                </a:rPr>
                <a:t>Captions</a:t>
              </a:r>
              <a:endParaRPr lang="en-SG" sz="700" dirty="0">
                <a:solidFill>
                  <a:srgbClr val="1CB857"/>
                </a:solidFill>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F6232ADF-DCF3-4B15-BAF1-0E62CFC0AA5C}"/>
                </a:ext>
              </a:extLst>
            </p:cNvPr>
            <p:cNvSpPr txBox="1"/>
            <p:nvPr/>
          </p:nvSpPr>
          <p:spPr>
            <a:xfrm>
              <a:off x="297817" y="4869847"/>
              <a:ext cx="1038224" cy="415498"/>
            </a:xfrm>
            <a:prstGeom prst="rect">
              <a:avLst/>
            </a:prstGeom>
            <a:noFill/>
          </p:spPr>
          <p:txBody>
            <a:bodyPr wrap="square" rtlCol="0">
              <a:spAutoFit/>
            </a:bodyPr>
            <a:lstStyle/>
            <a:p>
              <a:r>
                <a:rPr lang="en-US" sz="700" dirty="0">
                  <a:latin typeface="Arial" panose="020B0604020202020204" pitchFamily="34" charset="0"/>
                  <a:cs typeface="Arial" panose="020B0604020202020204" pitchFamily="34" charset="0"/>
                </a:rPr>
                <a:t>01 Python Script</a:t>
              </a:r>
            </a:p>
            <a:p>
              <a:endParaRPr lang="en-SG" sz="700" dirty="0">
                <a:latin typeface="Arial" panose="020B0604020202020204" pitchFamily="34" charset="0"/>
                <a:cs typeface="Arial" panose="020B0604020202020204" pitchFamily="34" charset="0"/>
              </a:endParaRPr>
            </a:p>
            <a:p>
              <a:endParaRPr lang="en-SG" sz="700" dirty="0">
                <a:latin typeface="Arial" panose="020B0604020202020204" pitchFamily="34" charset="0"/>
                <a:cs typeface="Arial" panose="020B0604020202020204" pitchFamily="34" charset="0"/>
              </a:endParaRPr>
            </a:p>
          </p:txBody>
        </p:sp>
      </p:grpSp>
      <p:sp>
        <p:nvSpPr>
          <p:cNvPr id="43" name="Rectangle 42">
            <a:extLst>
              <a:ext uri="{FF2B5EF4-FFF2-40B4-BE49-F238E27FC236}">
                <a16:creationId xmlns:a16="http://schemas.microsoft.com/office/drawing/2014/main" id="{6F2887BE-4AF8-4AD7-8E70-ED58B1AB1F8E}"/>
              </a:ext>
            </a:extLst>
          </p:cNvPr>
          <p:cNvSpPr/>
          <p:nvPr/>
        </p:nvSpPr>
        <p:spPr>
          <a:xfrm>
            <a:off x="497711" y="5721820"/>
            <a:ext cx="817692" cy="410376"/>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54864" rIns="18288" bIns="0" rtlCol="0" anchor="b"/>
          <a:lstStyle/>
          <a:p>
            <a:pPr algn="r"/>
            <a:r>
              <a:rPr lang="en-US" sz="800" b="1" dirty="0">
                <a:solidFill>
                  <a:srgbClr val="1CB857"/>
                </a:solidFill>
              </a:rPr>
              <a:t>01</a:t>
            </a:r>
            <a:endParaRPr lang="en-SG" sz="800" b="1" dirty="0">
              <a:solidFill>
                <a:srgbClr val="1CB857"/>
              </a:solidFill>
            </a:endParaRPr>
          </a:p>
        </p:txBody>
      </p:sp>
      <p:pic>
        <p:nvPicPr>
          <p:cNvPr id="9" name="Picture 8" descr="A white screen with a black text&#10;&#10;Description automatically generated with medium confidence">
            <a:extLst>
              <a:ext uri="{FF2B5EF4-FFF2-40B4-BE49-F238E27FC236}">
                <a16:creationId xmlns:a16="http://schemas.microsoft.com/office/drawing/2014/main" id="{A52AD889-75D8-7AF3-A6C6-A3913AF583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 y="624004"/>
            <a:ext cx="9906000" cy="4225410"/>
          </a:xfrm>
          <a:prstGeom prst="rect">
            <a:avLst/>
          </a:prstGeom>
        </p:spPr>
      </p:pic>
      <p:sp>
        <p:nvSpPr>
          <p:cNvPr id="10" name="TextBox 9">
            <a:extLst>
              <a:ext uri="{FF2B5EF4-FFF2-40B4-BE49-F238E27FC236}">
                <a16:creationId xmlns:a16="http://schemas.microsoft.com/office/drawing/2014/main" id="{4CF23A2A-9779-3D36-1152-3683C65274DB}"/>
              </a:ext>
            </a:extLst>
          </p:cNvPr>
          <p:cNvSpPr txBox="1"/>
          <p:nvPr/>
        </p:nvSpPr>
        <p:spPr>
          <a:xfrm>
            <a:off x="1628451" y="5004204"/>
            <a:ext cx="7765434" cy="1077218"/>
          </a:xfrm>
          <a:prstGeom prst="rect">
            <a:avLst/>
          </a:prstGeom>
          <a:noFill/>
        </p:spPr>
        <p:txBody>
          <a:bodyPr wrap="square" rtlCol="0">
            <a:spAutoFit/>
          </a:bodyPr>
          <a:lstStyle/>
          <a:p>
            <a:r>
              <a:rPr lang="en-SG" sz="800" b="1" dirty="0">
                <a:solidFill>
                  <a:srgbClr val="B31261"/>
                </a:solidFill>
                <a:latin typeface="Consolas" panose="020B0609020204030204" pitchFamily="49" charset="0"/>
              </a:rPr>
              <a:t>&lt;Python Script&gt;</a:t>
            </a:r>
          </a:p>
          <a:p>
            <a:r>
              <a:rPr lang="en-US" sz="800" dirty="0">
                <a:solidFill>
                  <a:srgbClr val="B31261"/>
                </a:solidFill>
                <a:latin typeface="Consolas" panose="020B0609020204030204" pitchFamily="49" charset="0"/>
              </a:rPr>
              <a:t>The Python Script is made up of a bunch sine functions that are varied with multiplication and division functions between </a:t>
            </a:r>
            <a:r>
              <a:rPr lang="en-US" sz="800" dirty="0" err="1">
                <a:solidFill>
                  <a:srgbClr val="B31261"/>
                </a:solidFill>
                <a:latin typeface="Consolas" panose="020B0609020204030204" pitchFamily="49" charset="0"/>
              </a:rPr>
              <a:t>Sx</a:t>
            </a:r>
            <a:r>
              <a:rPr lang="en-US" sz="800" dirty="0">
                <a:solidFill>
                  <a:srgbClr val="B31261"/>
                </a:solidFill>
                <a:latin typeface="Consolas" panose="020B0609020204030204" pitchFamily="49" charset="0"/>
              </a:rPr>
              <a:t>, Sy, x, y. </a:t>
            </a:r>
          </a:p>
          <a:p>
            <a:endParaRPr lang="en-US" sz="800" dirty="0">
              <a:solidFill>
                <a:srgbClr val="B31261"/>
              </a:solidFill>
              <a:latin typeface="Consolas" panose="020B0609020204030204" pitchFamily="49" charset="0"/>
            </a:endParaRPr>
          </a:p>
          <a:p>
            <a:r>
              <a:rPr lang="en-US" sz="800" dirty="0">
                <a:solidFill>
                  <a:srgbClr val="B31261"/>
                </a:solidFill>
                <a:latin typeface="Consolas" panose="020B0609020204030204" pitchFamily="49" charset="0"/>
              </a:rPr>
              <a:t>The product of </a:t>
            </a:r>
            <a:r>
              <a:rPr lang="en-US" sz="800" dirty="0" err="1">
                <a:solidFill>
                  <a:srgbClr val="B31261"/>
                </a:solidFill>
                <a:latin typeface="Consolas" panose="020B0609020204030204" pitchFamily="49" charset="0"/>
              </a:rPr>
              <a:t>Sx</a:t>
            </a:r>
            <a:r>
              <a:rPr lang="en-US" sz="800" dirty="0">
                <a:solidFill>
                  <a:srgbClr val="B31261"/>
                </a:solidFill>
                <a:latin typeface="Consolas" panose="020B0609020204030204" pitchFamily="49" charset="0"/>
              </a:rPr>
              <a:t> and x, with product of Sy and y are placed into sine functions. The sine functions are then multiplied together and scaled by a factor of </a:t>
            </a:r>
            <a:r>
              <a:rPr lang="en-US" sz="800" dirty="0" err="1">
                <a:solidFill>
                  <a:srgbClr val="B31261"/>
                </a:solidFill>
                <a:latin typeface="Consolas" panose="020B0609020204030204" pitchFamily="49" charset="0"/>
              </a:rPr>
              <a:t>Sz</a:t>
            </a:r>
            <a:r>
              <a:rPr lang="en-US" sz="800" dirty="0">
                <a:solidFill>
                  <a:srgbClr val="B31261"/>
                </a:solidFill>
                <a:latin typeface="Consolas" panose="020B0609020204030204" pitchFamily="49" charset="0"/>
              </a:rPr>
              <a:t>. </a:t>
            </a:r>
          </a:p>
          <a:p>
            <a:endParaRPr lang="en-US" sz="800" dirty="0">
              <a:solidFill>
                <a:srgbClr val="B31261"/>
              </a:solidFill>
              <a:latin typeface="Consolas" panose="020B0609020204030204" pitchFamily="49" charset="0"/>
            </a:endParaRPr>
          </a:p>
          <a:p>
            <a:r>
              <a:rPr lang="en-US" sz="800" dirty="0">
                <a:solidFill>
                  <a:srgbClr val="B31261"/>
                </a:solidFill>
                <a:latin typeface="Consolas" panose="020B0609020204030204" pitchFamily="49" charset="0"/>
              </a:rPr>
              <a:t>This is followed by the adding a factor </a:t>
            </a:r>
            <a:r>
              <a:rPr lang="en-US" sz="800" dirty="0" err="1">
                <a:solidFill>
                  <a:srgbClr val="B31261"/>
                </a:solidFill>
                <a:latin typeface="Consolas" panose="020B0609020204030204" pitchFamily="49" charset="0"/>
              </a:rPr>
              <a:t>Sz</a:t>
            </a:r>
            <a:r>
              <a:rPr lang="en-US" sz="800" dirty="0">
                <a:solidFill>
                  <a:srgbClr val="B31261"/>
                </a:solidFill>
                <a:latin typeface="Consolas" panose="020B0609020204030204" pitchFamily="49" charset="0"/>
              </a:rPr>
              <a:t> of the sine of </a:t>
            </a:r>
            <a:r>
              <a:rPr lang="en-US" sz="800" dirty="0" err="1">
                <a:solidFill>
                  <a:srgbClr val="B31261"/>
                </a:solidFill>
                <a:latin typeface="Consolas" panose="020B0609020204030204" pitchFamily="49" charset="0"/>
              </a:rPr>
              <a:t>Sx</a:t>
            </a:r>
            <a:r>
              <a:rPr lang="en-US" sz="800" dirty="0">
                <a:solidFill>
                  <a:srgbClr val="B31261"/>
                </a:solidFill>
                <a:latin typeface="Consolas" panose="020B0609020204030204" pitchFamily="49" charset="0"/>
              </a:rPr>
              <a:t> divided by Sy and finally adding </a:t>
            </a:r>
            <a:r>
              <a:rPr lang="en-US" sz="800" dirty="0" err="1">
                <a:solidFill>
                  <a:srgbClr val="B31261"/>
                </a:solidFill>
                <a:latin typeface="Consolas" panose="020B0609020204030204" pitchFamily="49" charset="0"/>
              </a:rPr>
              <a:t>tz</a:t>
            </a:r>
            <a:r>
              <a:rPr lang="en-US" sz="800" dirty="0">
                <a:solidFill>
                  <a:srgbClr val="B31261"/>
                </a:solidFill>
                <a:latin typeface="Consolas" panose="020B0609020204030204" pitchFamily="49" charset="0"/>
              </a:rPr>
              <a:t> to the equation.</a:t>
            </a:r>
          </a:p>
          <a:p>
            <a:endParaRPr lang="en-SG" sz="800" b="1" dirty="0">
              <a:solidFill>
                <a:srgbClr val="B31261"/>
              </a:solidFill>
              <a:latin typeface="Consolas" panose="020B0609020204030204" pitchFamily="49" charset="0"/>
            </a:endParaRPr>
          </a:p>
        </p:txBody>
      </p:sp>
    </p:spTree>
    <p:extLst>
      <p:ext uri="{BB962C8B-B14F-4D97-AF65-F5344CB8AC3E}">
        <p14:creationId xmlns:p14="http://schemas.microsoft.com/office/powerpoint/2010/main" val="29458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8FC1FD-4116-4F9F-AB03-B51954A08658}"/>
              </a:ext>
            </a:extLst>
          </p:cNvPr>
          <p:cNvSpPr txBox="1"/>
          <p:nvPr/>
        </p:nvSpPr>
        <p:spPr>
          <a:xfrm>
            <a:off x="1476380" y="316230"/>
            <a:ext cx="2112645" cy="215444"/>
          </a:xfrm>
          <a:prstGeom prst="rect">
            <a:avLst/>
          </a:prstGeom>
          <a:noFill/>
        </p:spPr>
        <p:txBody>
          <a:bodyPr wrap="square" rtlCol="0">
            <a:spAutoFit/>
          </a:bodyPr>
          <a:lstStyle/>
          <a:p>
            <a:pPr algn="ctr"/>
            <a:r>
              <a:rPr lang="en-US" sz="750" b="1" dirty="0">
                <a:latin typeface="Consolas" panose="020B0609020204030204" pitchFamily="49" charset="0"/>
              </a:rPr>
              <a:t>&lt;Computational Design Thinking&gt;</a:t>
            </a:r>
            <a:endParaRPr lang="en-SG" sz="750" b="1" dirty="0">
              <a:latin typeface="Consolas" panose="020B0609020204030204" pitchFamily="49" charset="0"/>
            </a:endParaRPr>
          </a:p>
        </p:txBody>
      </p:sp>
      <p:sp>
        <p:nvSpPr>
          <p:cNvPr id="5" name="TextBox 4">
            <a:extLst>
              <a:ext uri="{FF2B5EF4-FFF2-40B4-BE49-F238E27FC236}">
                <a16:creationId xmlns:a16="http://schemas.microsoft.com/office/drawing/2014/main" id="{8CD0D2F6-851E-4060-A070-3437C942866E}"/>
              </a:ext>
            </a:extLst>
          </p:cNvPr>
          <p:cNvSpPr txBox="1"/>
          <p:nvPr/>
        </p:nvSpPr>
        <p:spPr>
          <a:xfrm>
            <a:off x="6316986" y="316230"/>
            <a:ext cx="2112645" cy="215444"/>
          </a:xfrm>
          <a:prstGeom prst="rect">
            <a:avLst/>
          </a:prstGeom>
          <a:noFill/>
        </p:spPr>
        <p:txBody>
          <a:bodyPr wrap="square" rtlCol="0">
            <a:spAutoFit/>
          </a:bodyPr>
          <a:lstStyle/>
          <a:p>
            <a:pPr algn="ctr"/>
            <a:r>
              <a:rPr lang="en-US" sz="750" b="1" dirty="0">
                <a:latin typeface="Consolas" panose="020B0609020204030204" pitchFamily="49" charset="0"/>
              </a:rPr>
              <a:t>&lt;Parametric Design&gt;</a:t>
            </a:r>
            <a:endParaRPr lang="en-SG" sz="750" b="1" dirty="0">
              <a:latin typeface="Consolas" panose="020B0609020204030204" pitchFamily="49" charset="0"/>
            </a:endParaRPr>
          </a:p>
        </p:txBody>
      </p:sp>
      <p:sp>
        <p:nvSpPr>
          <p:cNvPr id="6" name="TextBox 5">
            <a:extLst>
              <a:ext uri="{FF2B5EF4-FFF2-40B4-BE49-F238E27FC236}">
                <a16:creationId xmlns:a16="http://schemas.microsoft.com/office/drawing/2014/main" id="{A7805250-1096-413A-99CD-0A595205E907}"/>
              </a:ext>
            </a:extLst>
          </p:cNvPr>
          <p:cNvSpPr txBox="1"/>
          <p:nvPr/>
        </p:nvSpPr>
        <p:spPr>
          <a:xfrm>
            <a:off x="323854" y="323924"/>
            <a:ext cx="68199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P4</a:t>
            </a:r>
            <a:endParaRPr lang="en-SG" sz="6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8ADEB79-E814-474C-8923-C7FAEA1599B6}"/>
              </a:ext>
            </a:extLst>
          </p:cNvPr>
          <p:cNvSpPr txBox="1"/>
          <p:nvPr/>
        </p:nvSpPr>
        <p:spPr>
          <a:xfrm>
            <a:off x="8863967" y="316230"/>
            <a:ext cx="681990" cy="184666"/>
          </a:xfrm>
          <a:prstGeom prst="rect">
            <a:avLst/>
          </a:prstGeom>
          <a:noFill/>
        </p:spPr>
        <p:txBody>
          <a:bodyPr wrap="square" rtlCol="0">
            <a:spAutoFit/>
          </a:bodyPr>
          <a:lstStyle/>
          <a:p>
            <a:pPr algn="r"/>
            <a:r>
              <a:rPr lang="en-US" sz="600" dirty="0">
                <a:latin typeface="Arial" panose="020B0604020202020204" pitchFamily="34" charset="0"/>
                <a:cs typeface="Arial" panose="020B0604020202020204" pitchFamily="34" charset="0"/>
              </a:rPr>
              <a:t>P4</a:t>
            </a:r>
            <a:endParaRPr lang="en-SG" sz="600"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B9171FA2-5F4E-4F15-B7C9-5F0C139B97A7}"/>
              </a:ext>
            </a:extLst>
          </p:cNvPr>
          <p:cNvGrpSpPr/>
          <p:nvPr/>
        </p:nvGrpSpPr>
        <p:grpSpPr>
          <a:xfrm>
            <a:off x="297817" y="4453586"/>
            <a:ext cx="1038224" cy="621902"/>
            <a:chOff x="297817" y="4663443"/>
            <a:chExt cx="1038224" cy="621902"/>
          </a:xfrm>
        </p:grpSpPr>
        <p:sp>
          <p:nvSpPr>
            <p:cNvPr id="35" name="TextBox 34">
              <a:extLst>
                <a:ext uri="{FF2B5EF4-FFF2-40B4-BE49-F238E27FC236}">
                  <a16:creationId xmlns:a16="http://schemas.microsoft.com/office/drawing/2014/main" id="{B1C8FFB9-AFFA-4E64-9B25-9EB3107CA119}"/>
                </a:ext>
              </a:extLst>
            </p:cNvPr>
            <p:cNvSpPr txBox="1"/>
            <p:nvPr/>
          </p:nvSpPr>
          <p:spPr>
            <a:xfrm>
              <a:off x="297817" y="4663443"/>
              <a:ext cx="681990" cy="200055"/>
            </a:xfrm>
            <a:prstGeom prst="rect">
              <a:avLst/>
            </a:prstGeom>
            <a:noFill/>
          </p:spPr>
          <p:txBody>
            <a:bodyPr wrap="square" rtlCol="0">
              <a:spAutoFit/>
            </a:bodyPr>
            <a:lstStyle/>
            <a:p>
              <a:r>
                <a:rPr lang="en-US" sz="700" dirty="0">
                  <a:solidFill>
                    <a:srgbClr val="1CB857"/>
                  </a:solidFill>
                  <a:latin typeface="Arial" panose="020B0604020202020204" pitchFamily="34" charset="0"/>
                  <a:cs typeface="Arial" panose="020B0604020202020204" pitchFamily="34" charset="0"/>
                </a:rPr>
                <a:t>Captions</a:t>
              </a:r>
              <a:endParaRPr lang="en-SG" sz="700" dirty="0">
                <a:solidFill>
                  <a:srgbClr val="1CB857"/>
                </a:solidFill>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F6232ADF-DCF3-4B15-BAF1-0E62CFC0AA5C}"/>
                </a:ext>
              </a:extLst>
            </p:cNvPr>
            <p:cNvSpPr txBox="1"/>
            <p:nvPr/>
          </p:nvSpPr>
          <p:spPr>
            <a:xfrm>
              <a:off x="297817" y="4869847"/>
              <a:ext cx="1038224" cy="415498"/>
            </a:xfrm>
            <a:prstGeom prst="rect">
              <a:avLst/>
            </a:prstGeom>
            <a:noFill/>
          </p:spPr>
          <p:txBody>
            <a:bodyPr wrap="square" rtlCol="0">
              <a:spAutoFit/>
            </a:bodyPr>
            <a:lstStyle/>
            <a:p>
              <a:r>
                <a:rPr lang="en-US" sz="700" dirty="0">
                  <a:latin typeface="Arial" panose="020B0604020202020204" pitchFamily="34" charset="0"/>
                  <a:cs typeface="Arial" panose="020B0604020202020204" pitchFamily="34" charset="0"/>
                </a:rPr>
                <a:t>01 Variation mapping</a:t>
              </a:r>
            </a:p>
            <a:p>
              <a:endParaRPr lang="en-SG" sz="700" dirty="0">
                <a:latin typeface="Arial" panose="020B0604020202020204" pitchFamily="34" charset="0"/>
                <a:cs typeface="Arial" panose="020B0604020202020204" pitchFamily="34" charset="0"/>
              </a:endParaRPr>
            </a:p>
            <a:p>
              <a:endParaRPr lang="en-SG" sz="700" dirty="0">
                <a:latin typeface="Arial" panose="020B0604020202020204" pitchFamily="34" charset="0"/>
                <a:cs typeface="Arial" panose="020B0604020202020204" pitchFamily="34" charset="0"/>
              </a:endParaRPr>
            </a:p>
          </p:txBody>
        </p:sp>
      </p:grpSp>
      <p:sp>
        <p:nvSpPr>
          <p:cNvPr id="37" name="Rectangle 36">
            <a:extLst>
              <a:ext uri="{FF2B5EF4-FFF2-40B4-BE49-F238E27FC236}">
                <a16:creationId xmlns:a16="http://schemas.microsoft.com/office/drawing/2014/main" id="{8A914215-54A8-4AEA-8A62-B3E2DA5EBBF0}"/>
              </a:ext>
            </a:extLst>
          </p:cNvPr>
          <p:cNvSpPr/>
          <p:nvPr/>
        </p:nvSpPr>
        <p:spPr>
          <a:xfrm>
            <a:off x="398145" y="5721819"/>
            <a:ext cx="937896" cy="84376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54864" rIns="18288" bIns="0" rtlCol="0" anchor="b"/>
          <a:lstStyle/>
          <a:p>
            <a:pPr algn="r"/>
            <a:r>
              <a:rPr lang="en-US" sz="800" b="1" dirty="0">
                <a:solidFill>
                  <a:srgbClr val="1CB857"/>
                </a:solidFill>
              </a:rPr>
              <a:t>01</a:t>
            </a:r>
            <a:endParaRPr lang="en-SG" sz="800" b="1" dirty="0">
              <a:solidFill>
                <a:srgbClr val="1CB857"/>
              </a:solidFill>
            </a:endParaRPr>
          </a:p>
        </p:txBody>
      </p:sp>
      <p:sp>
        <p:nvSpPr>
          <p:cNvPr id="8" name="TextBox 7">
            <a:extLst>
              <a:ext uri="{FF2B5EF4-FFF2-40B4-BE49-F238E27FC236}">
                <a16:creationId xmlns:a16="http://schemas.microsoft.com/office/drawing/2014/main" id="{19C696B9-69FB-C615-3906-9ABDDD393600}"/>
              </a:ext>
            </a:extLst>
          </p:cNvPr>
          <p:cNvSpPr txBox="1"/>
          <p:nvPr/>
        </p:nvSpPr>
        <p:spPr>
          <a:xfrm>
            <a:off x="2705268" y="744424"/>
            <a:ext cx="1058333" cy="369332"/>
          </a:xfrm>
          <a:prstGeom prst="rect">
            <a:avLst/>
          </a:prstGeom>
          <a:noFill/>
        </p:spPr>
        <p:txBody>
          <a:bodyPr wrap="square" rtlCol="0">
            <a:spAutoFit/>
          </a:bodyPr>
          <a:lstStyle/>
          <a:p>
            <a:r>
              <a:rPr lang="en-SG" dirty="0" err="1"/>
              <a:t>Sx</a:t>
            </a:r>
            <a:r>
              <a:rPr lang="en-SG" dirty="0"/>
              <a:t> = 0.10</a:t>
            </a:r>
          </a:p>
        </p:txBody>
      </p:sp>
      <p:sp>
        <p:nvSpPr>
          <p:cNvPr id="9" name="TextBox 8">
            <a:extLst>
              <a:ext uri="{FF2B5EF4-FFF2-40B4-BE49-F238E27FC236}">
                <a16:creationId xmlns:a16="http://schemas.microsoft.com/office/drawing/2014/main" id="{08C2204D-565A-9B4B-36B2-0808CA80E5A6}"/>
              </a:ext>
            </a:extLst>
          </p:cNvPr>
          <p:cNvSpPr txBox="1"/>
          <p:nvPr/>
        </p:nvSpPr>
        <p:spPr>
          <a:xfrm>
            <a:off x="4953000" y="744424"/>
            <a:ext cx="1058332" cy="369332"/>
          </a:xfrm>
          <a:prstGeom prst="rect">
            <a:avLst/>
          </a:prstGeom>
          <a:noFill/>
        </p:spPr>
        <p:txBody>
          <a:bodyPr wrap="square" rtlCol="0">
            <a:spAutoFit/>
          </a:bodyPr>
          <a:lstStyle/>
          <a:p>
            <a:r>
              <a:rPr lang="en-SG" dirty="0" err="1"/>
              <a:t>Sx</a:t>
            </a:r>
            <a:r>
              <a:rPr lang="en-SG" dirty="0"/>
              <a:t> = 0.50</a:t>
            </a:r>
          </a:p>
        </p:txBody>
      </p:sp>
      <p:sp>
        <p:nvSpPr>
          <p:cNvPr id="10" name="TextBox 9">
            <a:extLst>
              <a:ext uri="{FF2B5EF4-FFF2-40B4-BE49-F238E27FC236}">
                <a16:creationId xmlns:a16="http://schemas.microsoft.com/office/drawing/2014/main" id="{A3FBD7F3-B84B-3DE1-27AB-EB138563660E}"/>
              </a:ext>
            </a:extLst>
          </p:cNvPr>
          <p:cNvSpPr txBox="1"/>
          <p:nvPr/>
        </p:nvSpPr>
        <p:spPr>
          <a:xfrm>
            <a:off x="7213600" y="744424"/>
            <a:ext cx="1058333" cy="369332"/>
          </a:xfrm>
          <a:prstGeom prst="rect">
            <a:avLst/>
          </a:prstGeom>
          <a:noFill/>
        </p:spPr>
        <p:txBody>
          <a:bodyPr wrap="square" rtlCol="0">
            <a:spAutoFit/>
          </a:bodyPr>
          <a:lstStyle/>
          <a:p>
            <a:r>
              <a:rPr lang="en-SG" dirty="0" err="1"/>
              <a:t>Sx</a:t>
            </a:r>
            <a:r>
              <a:rPr lang="en-SG" dirty="0"/>
              <a:t> = 0.95</a:t>
            </a:r>
          </a:p>
        </p:txBody>
      </p:sp>
      <p:sp>
        <p:nvSpPr>
          <p:cNvPr id="11" name="TextBox 10">
            <a:extLst>
              <a:ext uri="{FF2B5EF4-FFF2-40B4-BE49-F238E27FC236}">
                <a16:creationId xmlns:a16="http://schemas.microsoft.com/office/drawing/2014/main" id="{541779F0-AAC7-EB63-1A1E-E35A6886FDEA}"/>
              </a:ext>
            </a:extLst>
          </p:cNvPr>
          <p:cNvSpPr txBox="1"/>
          <p:nvPr/>
        </p:nvSpPr>
        <p:spPr>
          <a:xfrm>
            <a:off x="1245371" y="1807168"/>
            <a:ext cx="1037586" cy="369332"/>
          </a:xfrm>
          <a:prstGeom prst="rect">
            <a:avLst/>
          </a:prstGeom>
          <a:noFill/>
        </p:spPr>
        <p:txBody>
          <a:bodyPr wrap="square" rtlCol="0">
            <a:spAutoFit/>
          </a:bodyPr>
          <a:lstStyle/>
          <a:p>
            <a:r>
              <a:rPr lang="en-SG" dirty="0"/>
              <a:t>Sy = 0.10</a:t>
            </a:r>
          </a:p>
        </p:txBody>
      </p:sp>
      <p:sp>
        <p:nvSpPr>
          <p:cNvPr id="12" name="TextBox 11">
            <a:extLst>
              <a:ext uri="{FF2B5EF4-FFF2-40B4-BE49-F238E27FC236}">
                <a16:creationId xmlns:a16="http://schemas.microsoft.com/office/drawing/2014/main" id="{E6102A1A-71E9-6514-1A2C-E06AAC5698BC}"/>
              </a:ext>
            </a:extLst>
          </p:cNvPr>
          <p:cNvSpPr txBox="1"/>
          <p:nvPr/>
        </p:nvSpPr>
        <p:spPr>
          <a:xfrm>
            <a:off x="1171715" y="3350627"/>
            <a:ext cx="1037586" cy="369332"/>
          </a:xfrm>
          <a:prstGeom prst="rect">
            <a:avLst/>
          </a:prstGeom>
          <a:noFill/>
        </p:spPr>
        <p:txBody>
          <a:bodyPr wrap="square" rtlCol="0">
            <a:spAutoFit/>
          </a:bodyPr>
          <a:lstStyle/>
          <a:p>
            <a:r>
              <a:rPr lang="en-SG" dirty="0"/>
              <a:t>Sy = 0.50</a:t>
            </a:r>
          </a:p>
        </p:txBody>
      </p:sp>
      <p:sp>
        <p:nvSpPr>
          <p:cNvPr id="13" name="TextBox 12">
            <a:extLst>
              <a:ext uri="{FF2B5EF4-FFF2-40B4-BE49-F238E27FC236}">
                <a16:creationId xmlns:a16="http://schemas.microsoft.com/office/drawing/2014/main" id="{6B337C71-E482-E1CD-714D-36EBCE98C5A6}"/>
              </a:ext>
            </a:extLst>
          </p:cNvPr>
          <p:cNvSpPr txBox="1"/>
          <p:nvPr/>
        </p:nvSpPr>
        <p:spPr>
          <a:xfrm>
            <a:off x="1184815" y="4995453"/>
            <a:ext cx="1098141" cy="369332"/>
          </a:xfrm>
          <a:prstGeom prst="rect">
            <a:avLst/>
          </a:prstGeom>
          <a:noFill/>
        </p:spPr>
        <p:txBody>
          <a:bodyPr wrap="square" rtlCol="0">
            <a:spAutoFit/>
          </a:bodyPr>
          <a:lstStyle/>
          <a:p>
            <a:r>
              <a:rPr lang="en-SG" dirty="0"/>
              <a:t>Sy =  0.95</a:t>
            </a:r>
          </a:p>
        </p:txBody>
      </p:sp>
      <p:grpSp>
        <p:nvGrpSpPr>
          <p:cNvPr id="48" name="Group 47">
            <a:extLst>
              <a:ext uri="{FF2B5EF4-FFF2-40B4-BE49-F238E27FC236}">
                <a16:creationId xmlns:a16="http://schemas.microsoft.com/office/drawing/2014/main" id="{B3192D9A-540C-3FF1-D28B-1E20318537F1}"/>
              </a:ext>
            </a:extLst>
          </p:cNvPr>
          <p:cNvGrpSpPr/>
          <p:nvPr/>
        </p:nvGrpSpPr>
        <p:grpSpPr>
          <a:xfrm>
            <a:off x="2454435" y="1260374"/>
            <a:ext cx="6266750" cy="5281396"/>
            <a:chOff x="2454435" y="1231438"/>
            <a:chExt cx="6266750" cy="5281396"/>
          </a:xfrm>
        </p:grpSpPr>
        <p:pic>
          <p:nvPicPr>
            <p:cNvPr id="15" name="Picture 14" descr="A pink square with wavy lines">
              <a:extLst>
                <a:ext uri="{FF2B5EF4-FFF2-40B4-BE49-F238E27FC236}">
                  <a16:creationId xmlns:a16="http://schemas.microsoft.com/office/drawing/2014/main" id="{1E9E1A25-0A31-CD4F-43A5-808682D8E558}"/>
                </a:ext>
              </a:extLst>
            </p:cNvPr>
            <p:cNvPicPr>
              <a:picLocks noChangeAspect="1"/>
            </p:cNvPicPr>
            <p:nvPr/>
          </p:nvPicPr>
          <p:blipFill>
            <a:blip r:embed="rId2">
              <a:extLst>
                <a:ext uri="{28A0092B-C50C-407E-A947-70E740481C1C}">
                  <a14:useLocalDpi xmlns:a14="http://schemas.microsoft.com/office/drawing/2010/main" val="0"/>
                </a:ext>
              </a:extLst>
            </a:blip>
            <a:srcRect r="10004" b="10991"/>
            <a:stretch/>
          </p:blipFill>
          <p:spPr>
            <a:xfrm>
              <a:off x="2454436" y="1232993"/>
              <a:ext cx="2177210" cy="1793790"/>
            </a:xfrm>
            <a:prstGeom prst="rect">
              <a:avLst/>
            </a:prstGeom>
          </p:spPr>
        </p:pic>
        <p:pic>
          <p:nvPicPr>
            <p:cNvPr id="17" name="Picture 16" descr="A purple square with wavy lines&#10;&#10;Description automatically generated">
              <a:extLst>
                <a:ext uri="{FF2B5EF4-FFF2-40B4-BE49-F238E27FC236}">
                  <a16:creationId xmlns:a16="http://schemas.microsoft.com/office/drawing/2014/main" id="{C1BD2EE4-4E82-4C86-CEE2-B07157B651C7}"/>
                </a:ext>
              </a:extLst>
            </p:cNvPr>
            <p:cNvPicPr>
              <a:picLocks noChangeAspect="1"/>
            </p:cNvPicPr>
            <p:nvPr/>
          </p:nvPicPr>
          <p:blipFill>
            <a:blip r:embed="rId3">
              <a:extLst>
                <a:ext uri="{28A0092B-C50C-407E-A947-70E740481C1C}">
                  <a14:useLocalDpi xmlns:a14="http://schemas.microsoft.com/office/drawing/2010/main" val="0"/>
                </a:ext>
              </a:extLst>
            </a:blip>
            <a:srcRect t="414" r="6156"/>
            <a:stretch/>
          </p:blipFill>
          <p:spPr>
            <a:xfrm>
              <a:off x="4585864" y="1232974"/>
              <a:ext cx="2035371" cy="1786360"/>
            </a:xfrm>
            <a:prstGeom prst="rect">
              <a:avLst/>
            </a:prstGeom>
          </p:spPr>
        </p:pic>
        <p:pic>
          <p:nvPicPr>
            <p:cNvPr id="19" name="Picture 18" descr="A pink and white background&#10;&#10;Description automatically generated with medium confidence">
              <a:extLst>
                <a:ext uri="{FF2B5EF4-FFF2-40B4-BE49-F238E27FC236}">
                  <a16:creationId xmlns:a16="http://schemas.microsoft.com/office/drawing/2014/main" id="{9967A3B0-9298-5C20-63F9-20926A09B0A9}"/>
                </a:ext>
              </a:extLst>
            </p:cNvPr>
            <p:cNvPicPr>
              <a:picLocks noChangeAspect="1"/>
            </p:cNvPicPr>
            <p:nvPr/>
          </p:nvPicPr>
          <p:blipFill>
            <a:blip r:embed="rId4">
              <a:extLst>
                <a:ext uri="{28A0092B-C50C-407E-A947-70E740481C1C}">
                  <a14:useLocalDpi xmlns:a14="http://schemas.microsoft.com/office/drawing/2010/main" val="0"/>
                </a:ext>
              </a:extLst>
            </a:blip>
            <a:srcRect l="2660" r="7698"/>
            <a:stretch/>
          </p:blipFill>
          <p:spPr>
            <a:xfrm>
              <a:off x="6551297" y="1231438"/>
              <a:ext cx="2169888" cy="1796899"/>
            </a:xfrm>
            <a:prstGeom prst="rect">
              <a:avLst/>
            </a:prstGeom>
          </p:spPr>
        </p:pic>
        <p:pic>
          <p:nvPicPr>
            <p:cNvPr id="28" name="Picture 27" descr="A purple square with white lines&#10;&#10;Description automatically generated with medium confidence">
              <a:extLst>
                <a:ext uri="{FF2B5EF4-FFF2-40B4-BE49-F238E27FC236}">
                  <a16:creationId xmlns:a16="http://schemas.microsoft.com/office/drawing/2014/main" id="{777F3850-B959-88C2-823C-8C7622896D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54436" y="3026783"/>
              <a:ext cx="2151943" cy="1740961"/>
            </a:xfrm>
            <a:prstGeom prst="rect">
              <a:avLst/>
            </a:prstGeom>
          </p:spPr>
        </p:pic>
        <p:pic>
          <p:nvPicPr>
            <p:cNvPr id="30" name="Picture 29" descr="A close-up of a purple surface&#10;&#10;Description automatically generated">
              <a:extLst>
                <a:ext uri="{FF2B5EF4-FFF2-40B4-BE49-F238E27FC236}">
                  <a16:creationId xmlns:a16="http://schemas.microsoft.com/office/drawing/2014/main" id="{32CDA899-C5FE-6E15-9986-47E7BD59114B}"/>
                </a:ext>
              </a:extLst>
            </p:cNvPr>
            <p:cNvPicPr>
              <a:picLocks noChangeAspect="1"/>
            </p:cNvPicPr>
            <p:nvPr/>
          </p:nvPicPr>
          <p:blipFill>
            <a:blip r:embed="rId6">
              <a:extLst>
                <a:ext uri="{28A0092B-C50C-407E-A947-70E740481C1C}">
                  <a14:useLocalDpi xmlns:a14="http://schemas.microsoft.com/office/drawing/2010/main" val="0"/>
                </a:ext>
              </a:extLst>
            </a:blip>
            <a:srcRect l="4810"/>
            <a:stretch/>
          </p:blipFill>
          <p:spPr>
            <a:xfrm>
              <a:off x="4584888" y="2953089"/>
              <a:ext cx="2048433" cy="1819211"/>
            </a:xfrm>
            <a:prstGeom prst="rect">
              <a:avLst/>
            </a:prstGeom>
          </p:spPr>
        </p:pic>
        <p:pic>
          <p:nvPicPr>
            <p:cNvPr id="32" name="Picture 31" descr="A purple and white surface&#10;&#10;Description automatically generated with medium confidence">
              <a:extLst>
                <a:ext uri="{FF2B5EF4-FFF2-40B4-BE49-F238E27FC236}">
                  <a16:creationId xmlns:a16="http://schemas.microsoft.com/office/drawing/2014/main" id="{9C0D7788-D38F-D544-EE50-739510C1A6AA}"/>
                </a:ext>
              </a:extLst>
            </p:cNvPr>
            <p:cNvPicPr>
              <a:picLocks noChangeAspect="1"/>
            </p:cNvPicPr>
            <p:nvPr/>
          </p:nvPicPr>
          <p:blipFill>
            <a:blip r:embed="rId7">
              <a:extLst>
                <a:ext uri="{28A0092B-C50C-407E-A947-70E740481C1C}">
                  <a14:useLocalDpi xmlns:a14="http://schemas.microsoft.com/office/drawing/2010/main" val="0"/>
                </a:ext>
              </a:extLst>
            </a:blip>
            <a:srcRect r="392"/>
            <a:stretch/>
          </p:blipFill>
          <p:spPr>
            <a:xfrm>
              <a:off x="6623807" y="2953089"/>
              <a:ext cx="2097378" cy="1753150"/>
            </a:xfrm>
            <a:prstGeom prst="rect">
              <a:avLst/>
            </a:prstGeom>
          </p:spPr>
        </p:pic>
        <p:pic>
          <p:nvPicPr>
            <p:cNvPr id="34" name="Picture 33" descr="A purple square with wavy lines&#10;&#10;Description automatically generated with medium confidence">
              <a:extLst>
                <a:ext uri="{FF2B5EF4-FFF2-40B4-BE49-F238E27FC236}">
                  <a16:creationId xmlns:a16="http://schemas.microsoft.com/office/drawing/2014/main" id="{64A13093-4BAF-ADAD-D795-8D4B4C279C67}"/>
                </a:ext>
              </a:extLst>
            </p:cNvPr>
            <p:cNvPicPr>
              <a:picLocks noChangeAspect="1"/>
            </p:cNvPicPr>
            <p:nvPr/>
          </p:nvPicPr>
          <p:blipFill>
            <a:blip r:embed="rId8">
              <a:extLst>
                <a:ext uri="{28A0092B-C50C-407E-A947-70E740481C1C}">
                  <a14:useLocalDpi xmlns:a14="http://schemas.microsoft.com/office/drawing/2010/main" val="0"/>
                </a:ext>
              </a:extLst>
            </a:blip>
            <a:srcRect t="1861"/>
            <a:stretch/>
          </p:blipFill>
          <p:spPr>
            <a:xfrm>
              <a:off x="2454435" y="4762759"/>
              <a:ext cx="2164149" cy="1750075"/>
            </a:xfrm>
            <a:prstGeom prst="rect">
              <a:avLst/>
            </a:prstGeom>
          </p:spPr>
        </p:pic>
        <p:pic>
          <p:nvPicPr>
            <p:cNvPr id="41" name="Picture 40" descr="A purple wavy surface with black background&#10;&#10;Description automatically generated">
              <a:extLst>
                <a:ext uri="{FF2B5EF4-FFF2-40B4-BE49-F238E27FC236}">
                  <a16:creationId xmlns:a16="http://schemas.microsoft.com/office/drawing/2014/main" id="{995C3EA6-319E-A241-2093-BB493450612E}"/>
                </a:ext>
              </a:extLst>
            </p:cNvPr>
            <p:cNvPicPr>
              <a:picLocks noChangeAspect="1"/>
            </p:cNvPicPr>
            <p:nvPr/>
          </p:nvPicPr>
          <p:blipFill>
            <a:blip r:embed="rId9">
              <a:extLst>
                <a:ext uri="{28A0092B-C50C-407E-A947-70E740481C1C}">
                  <a14:useLocalDpi xmlns:a14="http://schemas.microsoft.com/office/drawing/2010/main" val="0"/>
                </a:ext>
              </a:extLst>
            </a:blip>
            <a:srcRect l="2308" r="1" b="1575"/>
            <a:stretch/>
          </p:blipFill>
          <p:spPr>
            <a:xfrm>
              <a:off x="4613311" y="4689065"/>
              <a:ext cx="2013077" cy="1819211"/>
            </a:xfrm>
            <a:prstGeom prst="rect">
              <a:avLst/>
            </a:prstGeom>
          </p:spPr>
        </p:pic>
        <p:pic>
          <p:nvPicPr>
            <p:cNvPr id="47" name="Picture 46" descr="A purple and white surface&#10;&#10;Description automatically generated with medium confidence">
              <a:extLst>
                <a:ext uri="{FF2B5EF4-FFF2-40B4-BE49-F238E27FC236}">
                  <a16:creationId xmlns:a16="http://schemas.microsoft.com/office/drawing/2014/main" id="{7582169A-57EA-C2D6-60C8-48591879D47D}"/>
                </a:ext>
              </a:extLst>
            </p:cNvPr>
            <p:cNvPicPr>
              <a:picLocks noChangeAspect="1"/>
            </p:cNvPicPr>
            <p:nvPr/>
          </p:nvPicPr>
          <p:blipFill>
            <a:blip r:embed="rId10">
              <a:extLst>
                <a:ext uri="{28A0092B-C50C-407E-A947-70E740481C1C}">
                  <a14:useLocalDpi xmlns:a14="http://schemas.microsoft.com/office/drawing/2010/main" val="0"/>
                </a:ext>
              </a:extLst>
            </a:blip>
            <a:srcRect l="1532" r="3038"/>
            <a:stretch/>
          </p:blipFill>
          <p:spPr>
            <a:xfrm>
              <a:off x="6623807" y="4630934"/>
              <a:ext cx="2097378" cy="1877342"/>
            </a:xfrm>
            <a:prstGeom prst="rect">
              <a:avLst/>
            </a:prstGeom>
          </p:spPr>
        </p:pic>
      </p:grpSp>
    </p:spTree>
    <p:extLst>
      <p:ext uri="{BB962C8B-B14F-4D97-AF65-F5344CB8AC3E}">
        <p14:creationId xmlns:p14="http://schemas.microsoft.com/office/powerpoint/2010/main" val="3103839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8FC1FD-4116-4F9F-AB03-B51954A08658}"/>
              </a:ext>
            </a:extLst>
          </p:cNvPr>
          <p:cNvSpPr txBox="1"/>
          <p:nvPr/>
        </p:nvSpPr>
        <p:spPr>
          <a:xfrm>
            <a:off x="1476380" y="316230"/>
            <a:ext cx="2112645" cy="215444"/>
          </a:xfrm>
          <a:prstGeom prst="rect">
            <a:avLst/>
          </a:prstGeom>
          <a:noFill/>
        </p:spPr>
        <p:txBody>
          <a:bodyPr wrap="square" rtlCol="0">
            <a:spAutoFit/>
          </a:bodyPr>
          <a:lstStyle/>
          <a:p>
            <a:pPr algn="ctr"/>
            <a:r>
              <a:rPr lang="en-US" sz="750" b="1" dirty="0">
                <a:latin typeface="Consolas" panose="020B0609020204030204" pitchFamily="49" charset="0"/>
              </a:rPr>
              <a:t>&lt;Computational Design Thinking&gt;</a:t>
            </a:r>
            <a:endParaRPr lang="en-SG" sz="750" b="1" dirty="0">
              <a:latin typeface="Consolas" panose="020B0609020204030204" pitchFamily="49" charset="0"/>
            </a:endParaRPr>
          </a:p>
        </p:txBody>
      </p:sp>
      <p:sp>
        <p:nvSpPr>
          <p:cNvPr id="5" name="TextBox 4">
            <a:extLst>
              <a:ext uri="{FF2B5EF4-FFF2-40B4-BE49-F238E27FC236}">
                <a16:creationId xmlns:a16="http://schemas.microsoft.com/office/drawing/2014/main" id="{8CD0D2F6-851E-4060-A070-3437C942866E}"/>
              </a:ext>
            </a:extLst>
          </p:cNvPr>
          <p:cNvSpPr txBox="1"/>
          <p:nvPr/>
        </p:nvSpPr>
        <p:spPr>
          <a:xfrm>
            <a:off x="6316986" y="316230"/>
            <a:ext cx="2112645" cy="215444"/>
          </a:xfrm>
          <a:prstGeom prst="rect">
            <a:avLst/>
          </a:prstGeom>
          <a:noFill/>
        </p:spPr>
        <p:txBody>
          <a:bodyPr wrap="square" rtlCol="0">
            <a:spAutoFit/>
          </a:bodyPr>
          <a:lstStyle/>
          <a:p>
            <a:pPr algn="ctr"/>
            <a:r>
              <a:rPr lang="en-US" sz="750" b="1" dirty="0">
                <a:latin typeface="Consolas" panose="020B0609020204030204" pitchFamily="49" charset="0"/>
              </a:rPr>
              <a:t>&lt;Parametric Design&gt;</a:t>
            </a:r>
            <a:endParaRPr lang="en-SG" sz="750" b="1" dirty="0">
              <a:latin typeface="Consolas" panose="020B0609020204030204" pitchFamily="49" charset="0"/>
            </a:endParaRPr>
          </a:p>
        </p:txBody>
      </p:sp>
      <p:sp>
        <p:nvSpPr>
          <p:cNvPr id="6" name="TextBox 5">
            <a:extLst>
              <a:ext uri="{FF2B5EF4-FFF2-40B4-BE49-F238E27FC236}">
                <a16:creationId xmlns:a16="http://schemas.microsoft.com/office/drawing/2014/main" id="{A7805250-1096-413A-99CD-0A595205E907}"/>
              </a:ext>
            </a:extLst>
          </p:cNvPr>
          <p:cNvSpPr txBox="1"/>
          <p:nvPr/>
        </p:nvSpPr>
        <p:spPr>
          <a:xfrm>
            <a:off x="323854" y="323924"/>
            <a:ext cx="68199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P5</a:t>
            </a:r>
            <a:endParaRPr lang="en-SG" sz="6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8ADEB79-E814-474C-8923-C7FAEA1599B6}"/>
              </a:ext>
            </a:extLst>
          </p:cNvPr>
          <p:cNvSpPr txBox="1"/>
          <p:nvPr/>
        </p:nvSpPr>
        <p:spPr>
          <a:xfrm>
            <a:off x="8863967" y="316230"/>
            <a:ext cx="681990" cy="184666"/>
          </a:xfrm>
          <a:prstGeom prst="rect">
            <a:avLst/>
          </a:prstGeom>
          <a:noFill/>
        </p:spPr>
        <p:txBody>
          <a:bodyPr wrap="square" rtlCol="0">
            <a:spAutoFit/>
          </a:bodyPr>
          <a:lstStyle/>
          <a:p>
            <a:pPr algn="r"/>
            <a:r>
              <a:rPr lang="en-US" sz="600" dirty="0">
                <a:latin typeface="Arial" panose="020B0604020202020204" pitchFamily="34" charset="0"/>
                <a:cs typeface="Arial" panose="020B0604020202020204" pitchFamily="34" charset="0"/>
              </a:rPr>
              <a:t>P5</a:t>
            </a:r>
            <a:endParaRPr lang="en-SG" sz="600" dirty="0">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6605708E-D9C8-4937-851C-B9A19F6A832F}"/>
              </a:ext>
            </a:extLst>
          </p:cNvPr>
          <p:cNvSpPr/>
          <p:nvPr/>
        </p:nvSpPr>
        <p:spPr>
          <a:xfrm>
            <a:off x="686781" y="5732297"/>
            <a:ext cx="287655" cy="19130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54864" rIns="18288" bIns="0" rtlCol="0" anchor="b"/>
          <a:lstStyle/>
          <a:p>
            <a:pPr algn="r"/>
            <a:r>
              <a:rPr lang="en-US" sz="800" b="1" dirty="0">
                <a:solidFill>
                  <a:srgbClr val="1CB857"/>
                </a:solidFill>
              </a:rPr>
              <a:t>02</a:t>
            </a:r>
            <a:endParaRPr lang="en-SG" sz="800" b="1" dirty="0">
              <a:solidFill>
                <a:srgbClr val="1CB857"/>
              </a:solidFill>
            </a:endParaRPr>
          </a:p>
        </p:txBody>
      </p:sp>
      <p:sp>
        <p:nvSpPr>
          <p:cNvPr id="46" name="Rectangle 45">
            <a:extLst>
              <a:ext uri="{FF2B5EF4-FFF2-40B4-BE49-F238E27FC236}">
                <a16:creationId xmlns:a16="http://schemas.microsoft.com/office/drawing/2014/main" id="{B0A1C027-D7EB-45DF-B346-42FD8EB4E418}"/>
              </a:ext>
            </a:extLst>
          </p:cNvPr>
          <p:cNvSpPr/>
          <p:nvPr/>
        </p:nvSpPr>
        <p:spPr>
          <a:xfrm>
            <a:off x="686781" y="6022809"/>
            <a:ext cx="287655" cy="19130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54864" rIns="18288" bIns="0" rtlCol="0" anchor="b"/>
          <a:lstStyle/>
          <a:p>
            <a:pPr algn="r"/>
            <a:r>
              <a:rPr lang="en-US" sz="800" b="1" dirty="0">
                <a:solidFill>
                  <a:srgbClr val="1CB857"/>
                </a:solidFill>
              </a:rPr>
              <a:t>04</a:t>
            </a:r>
            <a:endParaRPr lang="en-SG" sz="800" b="1" dirty="0">
              <a:solidFill>
                <a:srgbClr val="1CB857"/>
              </a:solidFill>
            </a:endParaRPr>
          </a:p>
        </p:txBody>
      </p:sp>
      <p:sp>
        <p:nvSpPr>
          <p:cNvPr id="49" name="Rectangle 48">
            <a:extLst>
              <a:ext uri="{FF2B5EF4-FFF2-40B4-BE49-F238E27FC236}">
                <a16:creationId xmlns:a16="http://schemas.microsoft.com/office/drawing/2014/main" id="{6CE6F947-4B43-4360-95D6-9858DFB61339}"/>
              </a:ext>
            </a:extLst>
          </p:cNvPr>
          <p:cNvSpPr/>
          <p:nvPr/>
        </p:nvSpPr>
        <p:spPr>
          <a:xfrm>
            <a:off x="316814" y="5732297"/>
            <a:ext cx="287655" cy="19130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54864" rIns="18288" bIns="0" rtlCol="0" anchor="b"/>
          <a:lstStyle/>
          <a:p>
            <a:pPr algn="r"/>
            <a:r>
              <a:rPr lang="en-US" sz="800" b="1" dirty="0">
                <a:solidFill>
                  <a:srgbClr val="1CB857"/>
                </a:solidFill>
              </a:rPr>
              <a:t>01</a:t>
            </a:r>
            <a:endParaRPr lang="en-SG" sz="800" b="1" dirty="0">
              <a:solidFill>
                <a:srgbClr val="1CB857"/>
              </a:solidFill>
            </a:endParaRPr>
          </a:p>
        </p:txBody>
      </p:sp>
      <p:sp>
        <p:nvSpPr>
          <p:cNvPr id="50" name="Rectangle 49">
            <a:extLst>
              <a:ext uri="{FF2B5EF4-FFF2-40B4-BE49-F238E27FC236}">
                <a16:creationId xmlns:a16="http://schemas.microsoft.com/office/drawing/2014/main" id="{3774D735-EFF3-44A8-9490-B1B0D6AFD560}"/>
              </a:ext>
            </a:extLst>
          </p:cNvPr>
          <p:cNvSpPr/>
          <p:nvPr/>
        </p:nvSpPr>
        <p:spPr>
          <a:xfrm>
            <a:off x="316815" y="6019249"/>
            <a:ext cx="287655" cy="19130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54864" rIns="18288" bIns="0" rtlCol="0" anchor="b"/>
          <a:lstStyle/>
          <a:p>
            <a:pPr algn="r"/>
            <a:r>
              <a:rPr lang="en-US" sz="800" b="1" dirty="0">
                <a:solidFill>
                  <a:srgbClr val="1CB857"/>
                </a:solidFill>
              </a:rPr>
              <a:t>03</a:t>
            </a:r>
            <a:endParaRPr lang="en-SG" sz="800" b="1" dirty="0">
              <a:solidFill>
                <a:srgbClr val="1CB857"/>
              </a:solidFill>
            </a:endParaRPr>
          </a:p>
        </p:txBody>
      </p:sp>
      <p:sp>
        <p:nvSpPr>
          <p:cNvPr id="39" name="TextBox 38">
            <a:extLst>
              <a:ext uri="{FF2B5EF4-FFF2-40B4-BE49-F238E27FC236}">
                <a16:creationId xmlns:a16="http://schemas.microsoft.com/office/drawing/2014/main" id="{2D7F8783-979E-FA2B-2794-13833FF15A67}"/>
              </a:ext>
            </a:extLst>
          </p:cNvPr>
          <p:cNvSpPr txBox="1"/>
          <p:nvPr/>
        </p:nvSpPr>
        <p:spPr>
          <a:xfrm>
            <a:off x="4389905" y="559173"/>
            <a:ext cx="1812719" cy="246221"/>
          </a:xfrm>
          <a:prstGeom prst="rect">
            <a:avLst/>
          </a:prstGeom>
          <a:noFill/>
        </p:spPr>
        <p:txBody>
          <a:bodyPr wrap="square" rtlCol="0">
            <a:spAutoFit/>
          </a:bodyPr>
          <a:lstStyle/>
          <a:p>
            <a:r>
              <a:rPr lang="en-SG" sz="1000" b="1" dirty="0">
                <a:solidFill>
                  <a:srgbClr val="B31261"/>
                </a:solidFill>
                <a:latin typeface="Consolas" panose="020B0609020204030204" pitchFamily="49" charset="0"/>
              </a:rPr>
              <a:t>&lt;Design Evaluation&gt;</a:t>
            </a:r>
          </a:p>
        </p:txBody>
      </p:sp>
      <p:sp>
        <p:nvSpPr>
          <p:cNvPr id="40" name="TextBox 39">
            <a:extLst>
              <a:ext uri="{FF2B5EF4-FFF2-40B4-BE49-F238E27FC236}">
                <a16:creationId xmlns:a16="http://schemas.microsoft.com/office/drawing/2014/main" id="{04061044-617D-FC60-FA2E-7DF8CE74C529}"/>
              </a:ext>
            </a:extLst>
          </p:cNvPr>
          <p:cNvSpPr txBox="1"/>
          <p:nvPr/>
        </p:nvSpPr>
        <p:spPr>
          <a:xfrm>
            <a:off x="1326695" y="5310310"/>
            <a:ext cx="6126420" cy="954107"/>
          </a:xfrm>
          <a:prstGeom prst="rect">
            <a:avLst/>
          </a:prstGeom>
          <a:noFill/>
        </p:spPr>
        <p:txBody>
          <a:bodyPr wrap="square" rtlCol="0">
            <a:spAutoFit/>
          </a:bodyPr>
          <a:lstStyle/>
          <a:p>
            <a:r>
              <a:rPr lang="en-SG" sz="800" b="1" dirty="0">
                <a:solidFill>
                  <a:srgbClr val="B31261"/>
                </a:solidFill>
                <a:latin typeface="Consolas" panose="020B0609020204030204" pitchFamily="49" charset="0"/>
              </a:rPr>
              <a:t>&lt;Qualitative&gt;</a:t>
            </a:r>
          </a:p>
          <a:p>
            <a:r>
              <a:rPr lang="en-SG" sz="800" dirty="0">
                <a:solidFill>
                  <a:srgbClr val="B31261"/>
                </a:solidFill>
                <a:latin typeface="Consolas" panose="020B0609020204030204" pitchFamily="49" charset="0"/>
              </a:rPr>
              <a:t>The quality of the model is defined as how aesthetically pleasing the model and how unique the model is relative to the other models of different parameters</a:t>
            </a:r>
            <a:endParaRPr lang="en-SG" sz="800" b="1" dirty="0">
              <a:solidFill>
                <a:srgbClr val="B31261"/>
              </a:solidFill>
              <a:latin typeface="Consolas" panose="020B0609020204030204" pitchFamily="49" charset="0"/>
            </a:endParaRPr>
          </a:p>
          <a:p>
            <a:endParaRPr lang="en-SG" sz="800" b="1" dirty="0">
              <a:solidFill>
                <a:srgbClr val="B31261"/>
              </a:solidFill>
              <a:latin typeface="Consolas" panose="020B0609020204030204" pitchFamily="49" charset="0"/>
            </a:endParaRPr>
          </a:p>
          <a:p>
            <a:r>
              <a:rPr lang="en-SG" sz="800" b="1" dirty="0">
                <a:solidFill>
                  <a:srgbClr val="B31261"/>
                </a:solidFill>
                <a:latin typeface="Consolas" panose="020B0609020204030204" pitchFamily="49" charset="0"/>
              </a:rPr>
              <a:t>&lt;Quantitative&gt;</a:t>
            </a:r>
          </a:p>
          <a:p>
            <a:r>
              <a:rPr lang="en-SG" sz="800" dirty="0">
                <a:solidFill>
                  <a:srgbClr val="B31261"/>
                </a:solidFill>
                <a:latin typeface="Consolas" panose="020B0609020204030204" pitchFamily="49" charset="0"/>
              </a:rPr>
              <a:t>It is defined as the amount of material being used, measured by surfaced area and volume. This is related to the cost of production and time taken for production</a:t>
            </a:r>
          </a:p>
        </p:txBody>
      </p:sp>
      <p:pic>
        <p:nvPicPr>
          <p:cNvPr id="2" name="Picture 1" descr="A pink and white background&#10;&#10;Description automatically generated with medium confidence">
            <a:extLst>
              <a:ext uri="{FF2B5EF4-FFF2-40B4-BE49-F238E27FC236}">
                <a16:creationId xmlns:a16="http://schemas.microsoft.com/office/drawing/2014/main" id="{817421A7-1AB1-E808-B434-8EEDE2967FA2}"/>
              </a:ext>
            </a:extLst>
          </p:cNvPr>
          <p:cNvPicPr>
            <a:picLocks noChangeAspect="1"/>
          </p:cNvPicPr>
          <p:nvPr/>
        </p:nvPicPr>
        <p:blipFill>
          <a:blip r:embed="rId2">
            <a:extLst>
              <a:ext uri="{28A0092B-C50C-407E-A947-70E740481C1C}">
                <a14:useLocalDpi xmlns:a14="http://schemas.microsoft.com/office/drawing/2010/main" val="0"/>
              </a:ext>
            </a:extLst>
          </a:blip>
          <a:srcRect l="2660" r="7698"/>
          <a:stretch/>
        </p:blipFill>
        <p:spPr>
          <a:xfrm>
            <a:off x="5030123" y="984169"/>
            <a:ext cx="2128820" cy="1796899"/>
          </a:xfrm>
          <a:prstGeom prst="rect">
            <a:avLst/>
          </a:prstGeom>
        </p:spPr>
      </p:pic>
      <p:pic>
        <p:nvPicPr>
          <p:cNvPr id="11" name="Picture 10" descr="A purple and white surface&#10;&#10;Description automatically generated with medium confidence">
            <a:extLst>
              <a:ext uri="{FF2B5EF4-FFF2-40B4-BE49-F238E27FC236}">
                <a16:creationId xmlns:a16="http://schemas.microsoft.com/office/drawing/2014/main" id="{ED855A90-16D8-3EA6-532A-89E881429DAA}"/>
              </a:ext>
            </a:extLst>
          </p:cNvPr>
          <p:cNvPicPr>
            <a:picLocks noChangeAspect="1"/>
          </p:cNvPicPr>
          <p:nvPr/>
        </p:nvPicPr>
        <p:blipFill>
          <a:blip r:embed="rId3">
            <a:extLst>
              <a:ext uri="{28A0092B-C50C-407E-A947-70E740481C1C}">
                <a14:useLocalDpi xmlns:a14="http://schemas.microsoft.com/office/drawing/2010/main" val="0"/>
              </a:ext>
            </a:extLst>
          </a:blip>
          <a:srcRect l="1532" r="3038"/>
          <a:stretch/>
        </p:blipFill>
        <p:spPr>
          <a:xfrm>
            <a:off x="5030123" y="3144248"/>
            <a:ext cx="2128820" cy="1905485"/>
          </a:xfrm>
          <a:prstGeom prst="rect">
            <a:avLst/>
          </a:prstGeom>
        </p:spPr>
      </p:pic>
      <p:pic>
        <p:nvPicPr>
          <p:cNvPr id="16" name="Picture 15" descr="A pink square with wavy lines">
            <a:extLst>
              <a:ext uri="{FF2B5EF4-FFF2-40B4-BE49-F238E27FC236}">
                <a16:creationId xmlns:a16="http://schemas.microsoft.com/office/drawing/2014/main" id="{B90F6A0B-B151-A60F-1D3E-DC799E0FC424}"/>
              </a:ext>
            </a:extLst>
          </p:cNvPr>
          <p:cNvPicPr>
            <a:picLocks noChangeAspect="1"/>
          </p:cNvPicPr>
          <p:nvPr/>
        </p:nvPicPr>
        <p:blipFill>
          <a:blip r:embed="rId4">
            <a:extLst>
              <a:ext uri="{28A0092B-C50C-407E-A947-70E740481C1C}">
                <a14:useLocalDpi xmlns:a14="http://schemas.microsoft.com/office/drawing/2010/main" val="0"/>
              </a:ext>
            </a:extLst>
          </a:blip>
          <a:srcRect r="10004" b="10991"/>
          <a:stretch/>
        </p:blipFill>
        <p:spPr>
          <a:xfrm>
            <a:off x="1362078" y="995553"/>
            <a:ext cx="2177210" cy="1793790"/>
          </a:xfrm>
          <a:prstGeom prst="rect">
            <a:avLst/>
          </a:prstGeom>
        </p:spPr>
      </p:pic>
      <p:pic>
        <p:nvPicPr>
          <p:cNvPr id="22" name="Picture 21" descr="A purple square with wavy lines&#10;&#10;Description automatically generated">
            <a:extLst>
              <a:ext uri="{FF2B5EF4-FFF2-40B4-BE49-F238E27FC236}">
                <a16:creationId xmlns:a16="http://schemas.microsoft.com/office/drawing/2014/main" id="{C6A52D60-BD21-6095-E7C1-9EE6755CF2EF}"/>
              </a:ext>
            </a:extLst>
          </p:cNvPr>
          <p:cNvPicPr>
            <a:picLocks noChangeAspect="1"/>
          </p:cNvPicPr>
          <p:nvPr/>
        </p:nvPicPr>
        <p:blipFill>
          <a:blip r:embed="rId5">
            <a:extLst>
              <a:ext uri="{28A0092B-C50C-407E-A947-70E740481C1C}">
                <a14:useLocalDpi xmlns:a14="http://schemas.microsoft.com/office/drawing/2010/main" val="0"/>
              </a:ext>
            </a:extLst>
          </a:blip>
          <a:srcRect t="414" r="6156"/>
          <a:stretch/>
        </p:blipFill>
        <p:spPr>
          <a:xfrm>
            <a:off x="1362078" y="3144248"/>
            <a:ext cx="2177210" cy="1910846"/>
          </a:xfrm>
          <a:prstGeom prst="rect">
            <a:avLst/>
          </a:prstGeom>
        </p:spPr>
      </p:pic>
      <p:grpSp>
        <p:nvGrpSpPr>
          <p:cNvPr id="24" name="Group 23">
            <a:extLst>
              <a:ext uri="{FF2B5EF4-FFF2-40B4-BE49-F238E27FC236}">
                <a16:creationId xmlns:a16="http://schemas.microsoft.com/office/drawing/2014/main" id="{0D38B006-300D-23BC-6012-C18ACF9B771A}"/>
              </a:ext>
            </a:extLst>
          </p:cNvPr>
          <p:cNvGrpSpPr/>
          <p:nvPr/>
        </p:nvGrpSpPr>
        <p:grpSpPr>
          <a:xfrm>
            <a:off x="270780" y="4891637"/>
            <a:ext cx="1038224" cy="837346"/>
            <a:chOff x="297817" y="4663443"/>
            <a:chExt cx="1038224" cy="837346"/>
          </a:xfrm>
        </p:grpSpPr>
        <p:sp>
          <p:nvSpPr>
            <p:cNvPr id="27" name="TextBox 26">
              <a:extLst>
                <a:ext uri="{FF2B5EF4-FFF2-40B4-BE49-F238E27FC236}">
                  <a16:creationId xmlns:a16="http://schemas.microsoft.com/office/drawing/2014/main" id="{4FA98E9A-F4F8-282B-CE3A-5BEA8DBB20BB}"/>
                </a:ext>
              </a:extLst>
            </p:cNvPr>
            <p:cNvSpPr txBox="1"/>
            <p:nvPr/>
          </p:nvSpPr>
          <p:spPr>
            <a:xfrm>
              <a:off x="297817" y="4663443"/>
              <a:ext cx="681990" cy="200055"/>
            </a:xfrm>
            <a:prstGeom prst="rect">
              <a:avLst/>
            </a:prstGeom>
            <a:noFill/>
          </p:spPr>
          <p:txBody>
            <a:bodyPr wrap="square" rtlCol="0">
              <a:spAutoFit/>
            </a:bodyPr>
            <a:lstStyle/>
            <a:p>
              <a:r>
                <a:rPr lang="en-US" sz="700" dirty="0">
                  <a:solidFill>
                    <a:srgbClr val="1CB857"/>
                  </a:solidFill>
                  <a:latin typeface="Arial" panose="020B0604020202020204" pitchFamily="34" charset="0"/>
                  <a:cs typeface="Arial" panose="020B0604020202020204" pitchFamily="34" charset="0"/>
                </a:rPr>
                <a:t>Captions</a:t>
              </a:r>
              <a:endParaRPr lang="en-SG" sz="700" dirty="0">
                <a:solidFill>
                  <a:srgbClr val="1CB857"/>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98B3232E-5BE8-8DC6-3650-62089A4C6B72}"/>
                </a:ext>
              </a:extLst>
            </p:cNvPr>
            <p:cNvSpPr txBox="1"/>
            <p:nvPr/>
          </p:nvSpPr>
          <p:spPr>
            <a:xfrm>
              <a:off x="297817" y="4869847"/>
              <a:ext cx="1038224" cy="630942"/>
            </a:xfrm>
            <a:prstGeom prst="rect">
              <a:avLst/>
            </a:prstGeom>
            <a:noFill/>
          </p:spPr>
          <p:txBody>
            <a:bodyPr wrap="square" rtlCol="0">
              <a:spAutoFit/>
            </a:bodyPr>
            <a:lstStyle/>
            <a:p>
              <a:r>
                <a:rPr lang="en-US" sz="700" dirty="0">
                  <a:latin typeface="Arial" panose="020B0604020202020204" pitchFamily="34" charset="0"/>
                  <a:cs typeface="Arial" panose="020B0604020202020204" pitchFamily="34" charset="0"/>
                </a:rPr>
                <a:t>01 LL</a:t>
              </a:r>
            </a:p>
            <a:p>
              <a:r>
                <a:rPr lang="en-US" sz="700" dirty="0">
                  <a:latin typeface="Arial" panose="020B0604020202020204" pitchFamily="34" charset="0"/>
                  <a:cs typeface="Arial" panose="020B0604020202020204" pitchFamily="34" charset="0"/>
                </a:rPr>
                <a:t>02 HH</a:t>
              </a:r>
            </a:p>
            <a:p>
              <a:r>
                <a:rPr lang="en-US" sz="700" dirty="0">
                  <a:latin typeface="Arial" panose="020B0604020202020204" pitchFamily="34" charset="0"/>
                  <a:cs typeface="Arial" panose="020B0604020202020204" pitchFamily="34" charset="0"/>
                </a:rPr>
                <a:t>03 HL</a:t>
              </a:r>
            </a:p>
            <a:p>
              <a:r>
                <a:rPr lang="en-US" sz="700" dirty="0">
                  <a:latin typeface="Arial" panose="020B0604020202020204" pitchFamily="34" charset="0"/>
                  <a:cs typeface="Arial" panose="020B0604020202020204" pitchFamily="34" charset="0"/>
                </a:rPr>
                <a:t>04 LH</a:t>
              </a:r>
              <a:endParaRPr lang="en-SG" sz="700" dirty="0">
                <a:latin typeface="Arial" panose="020B0604020202020204" pitchFamily="34" charset="0"/>
                <a:cs typeface="Arial" panose="020B0604020202020204" pitchFamily="34" charset="0"/>
              </a:endParaRPr>
            </a:p>
            <a:p>
              <a:endParaRPr lang="en-SG" sz="700" dirty="0">
                <a:latin typeface="Arial" panose="020B0604020202020204" pitchFamily="34" charset="0"/>
                <a:cs typeface="Arial" panose="020B0604020202020204" pitchFamily="34" charset="0"/>
              </a:endParaRPr>
            </a:p>
          </p:txBody>
        </p:sp>
      </p:grpSp>
      <p:sp>
        <p:nvSpPr>
          <p:cNvPr id="31" name="TextBox 30">
            <a:extLst>
              <a:ext uri="{FF2B5EF4-FFF2-40B4-BE49-F238E27FC236}">
                <a16:creationId xmlns:a16="http://schemas.microsoft.com/office/drawing/2014/main" id="{DA6B7DCB-4D9A-F811-8E15-9A675BDE98CC}"/>
              </a:ext>
            </a:extLst>
          </p:cNvPr>
          <p:cNvSpPr txBox="1"/>
          <p:nvPr/>
        </p:nvSpPr>
        <p:spPr>
          <a:xfrm>
            <a:off x="341316" y="971291"/>
            <a:ext cx="1041400" cy="338554"/>
          </a:xfrm>
          <a:prstGeom prst="rect">
            <a:avLst/>
          </a:prstGeom>
          <a:noFill/>
        </p:spPr>
        <p:txBody>
          <a:bodyPr wrap="square" rtlCol="0">
            <a:spAutoFit/>
          </a:bodyPr>
          <a:lstStyle/>
          <a:p>
            <a:r>
              <a:rPr lang="en-SG" sz="800" b="1" dirty="0">
                <a:solidFill>
                  <a:srgbClr val="B31261"/>
                </a:solidFill>
                <a:latin typeface="Consolas" panose="020B0609020204030204" pitchFamily="49" charset="0"/>
              </a:rPr>
              <a:t>Low Quality</a:t>
            </a:r>
          </a:p>
          <a:p>
            <a:r>
              <a:rPr lang="en-SG" sz="800" b="1" dirty="0">
                <a:solidFill>
                  <a:srgbClr val="B31261"/>
                </a:solidFill>
                <a:latin typeface="Consolas" panose="020B0609020204030204" pitchFamily="49" charset="0"/>
              </a:rPr>
              <a:t>Low Quantity</a:t>
            </a:r>
            <a:endParaRPr lang="en-SG" sz="800" dirty="0">
              <a:latin typeface="Consolas" panose="020B0609020204030204" pitchFamily="49" charset="0"/>
            </a:endParaRPr>
          </a:p>
        </p:txBody>
      </p:sp>
      <p:sp>
        <p:nvSpPr>
          <p:cNvPr id="32" name="TextBox 31">
            <a:extLst>
              <a:ext uri="{FF2B5EF4-FFF2-40B4-BE49-F238E27FC236}">
                <a16:creationId xmlns:a16="http://schemas.microsoft.com/office/drawing/2014/main" id="{95C2DC90-1BF8-54C4-8C5A-E6768688425A}"/>
              </a:ext>
            </a:extLst>
          </p:cNvPr>
          <p:cNvSpPr txBox="1"/>
          <p:nvPr/>
        </p:nvSpPr>
        <p:spPr>
          <a:xfrm>
            <a:off x="3999516" y="985086"/>
            <a:ext cx="1121067" cy="338554"/>
          </a:xfrm>
          <a:prstGeom prst="rect">
            <a:avLst/>
          </a:prstGeom>
          <a:noFill/>
        </p:spPr>
        <p:txBody>
          <a:bodyPr wrap="square" rtlCol="0">
            <a:spAutoFit/>
          </a:bodyPr>
          <a:lstStyle/>
          <a:p>
            <a:r>
              <a:rPr lang="en-SG" sz="800" b="1" dirty="0">
                <a:solidFill>
                  <a:srgbClr val="B31261"/>
                </a:solidFill>
                <a:latin typeface="Consolas" panose="020B0609020204030204" pitchFamily="49" charset="0"/>
              </a:rPr>
              <a:t>High Quality</a:t>
            </a:r>
          </a:p>
          <a:p>
            <a:r>
              <a:rPr lang="en-SG" sz="800" b="1" dirty="0">
                <a:solidFill>
                  <a:srgbClr val="B31261"/>
                </a:solidFill>
                <a:latin typeface="Consolas" panose="020B0609020204030204" pitchFamily="49" charset="0"/>
              </a:rPr>
              <a:t>High Quantity</a:t>
            </a:r>
          </a:p>
        </p:txBody>
      </p:sp>
      <p:sp>
        <p:nvSpPr>
          <p:cNvPr id="33" name="TextBox 32">
            <a:extLst>
              <a:ext uri="{FF2B5EF4-FFF2-40B4-BE49-F238E27FC236}">
                <a16:creationId xmlns:a16="http://schemas.microsoft.com/office/drawing/2014/main" id="{F96BCE99-868C-5546-CA97-BAE06FC1D4BE}"/>
              </a:ext>
            </a:extLst>
          </p:cNvPr>
          <p:cNvSpPr txBox="1"/>
          <p:nvPr/>
        </p:nvSpPr>
        <p:spPr>
          <a:xfrm>
            <a:off x="285295" y="3144248"/>
            <a:ext cx="1041400" cy="338554"/>
          </a:xfrm>
          <a:prstGeom prst="rect">
            <a:avLst/>
          </a:prstGeom>
          <a:noFill/>
        </p:spPr>
        <p:txBody>
          <a:bodyPr wrap="square" rtlCol="0">
            <a:spAutoFit/>
          </a:bodyPr>
          <a:lstStyle/>
          <a:p>
            <a:r>
              <a:rPr lang="en-SG" sz="800" b="1" dirty="0">
                <a:solidFill>
                  <a:srgbClr val="B31261"/>
                </a:solidFill>
                <a:latin typeface="Consolas" panose="020B0609020204030204" pitchFamily="49" charset="0"/>
              </a:rPr>
              <a:t>High Quality</a:t>
            </a:r>
          </a:p>
          <a:p>
            <a:r>
              <a:rPr lang="en-SG" sz="800" b="1" dirty="0">
                <a:solidFill>
                  <a:srgbClr val="B31261"/>
                </a:solidFill>
                <a:latin typeface="Consolas" panose="020B0609020204030204" pitchFamily="49" charset="0"/>
              </a:rPr>
              <a:t>Low Quantity</a:t>
            </a:r>
            <a:endParaRPr lang="en-SG" sz="800" dirty="0">
              <a:latin typeface="Consolas" panose="020B0609020204030204" pitchFamily="49" charset="0"/>
            </a:endParaRPr>
          </a:p>
        </p:txBody>
      </p:sp>
      <p:sp>
        <p:nvSpPr>
          <p:cNvPr id="34" name="TextBox 33">
            <a:extLst>
              <a:ext uri="{FF2B5EF4-FFF2-40B4-BE49-F238E27FC236}">
                <a16:creationId xmlns:a16="http://schemas.microsoft.com/office/drawing/2014/main" id="{DB0DA422-AC31-32A9-B351-48063944D50D}"/>
              </a:ext>
            </a:extLst>
          </p:cNvPr>
          <p:cNvSpPr txBox="1"/>
          <p:nvPr/>
        </p:nvSpPr>
        <p:spPr>
          <a:xfrm>
            <a:off x="3999516" y="3151148"/>
            <a:ext cx="1121067" cy="338554"/>
          </a:xfrm>
          <a:prstGeom prst="rect">
            <a:avLst/>
          </a:prstGeom>
          <a:noFill/>
        </p:spPr>
        <p:txBody>
          <a:bodyPr wrap="square" rtlCol="0">
            <a:spAutoFit/>
          </a:bodyPr>
          <a:lstStyle/>
          <a:p>
            <a:r>
              <a:rPr lang="en-SG" sz="800" b="1" dirty="0">
                <a:solidFill>
                  <a:srgbClr val="B31261"/>
                </a:solidFill>
                <a:latin typeface="Consolas" panose="020B0609020204030204" pitchFamily="49" charset="0"/>
              </a:rPr>
              <a:t>Low Quality</a:t>
            </a:r>
          </a:p>
          <a:p>
            <a:r>
              <a:rPr lang="en-SG" sz="800" b="1" dirty="0">
                <a:solidFill>
                  <a:srgbClr val="B31261"/>
                </a:solidFill>
                <a:latin typeface="Consolas" panose="020B0609020204030204" pitchFamily="49" charset="0"/>
              </a:rPr>
              <a:t>High Quantity</a:t>
            </a:r>
          </a:p>
        </p:txBody>
      </p:sp>
      <p:sp>
        <p:nvSpPr>
          <p:cNvPr id="37" name="TextBox 36">
            <a:extLst>
              <a:ext uri="{FF2B5EF4-FFF2-40B4-BE49-F238E27FC236}">
                <a16:creationId xmlns:a16="http://schemas.microsoft.com/office/drawing/2014/main" id="{94AB3604-CF0E-1B0A-D833-F92FBD5129F2}"/>
              </a:ext>
            </a:extLst>
          </p:cNvPr>
          <p:cNvSpPr txBox="1"/>
          <p:nvPr/>
        </p:nvSpPr>
        <p:spPr>
          <a:xfrm>
            <a:off x="7614743" y="2181652"/>
            <a:ext cx="1916941" cy="2062103"/>
          </a:xfrm>
          <a:prstGeom prst="rect">
            <a:avLst/>
          </a:prstGeom>
          <a:noFill/>
        </p:spPr>
        <p:txBody>
          <a:bodyPr wrap="square" rtlCol="0">
            <a:spAutoFit/>
          </a:bodyPr>
          <a:lstStyle/>
          <a:p>
            <a:r>
              <a:rPr lang="en-SG" sz="800" dirty="0">
                <a:solidFill>
                  <a:srgbClr val="B31261"/>
                </a:solidFill>
                <a:latin typeface="Consolas" panose="020B0609020204030204" pitchFamily="49" charset="0"/>
              </a:rPr>
              <a:t>After looking through the models, with varying quality and quantity, I have decided to choose the model with </a:t>
            </a:r>
            <a:r>
              <a:rPr lang="en-SG" sz="800" b="1" dirty="0">
                <a:solidFill>
                  <a:srgbClr val="B31261"/>
                </a:solidFill>
                <a:latin typeface="Consolas" panose="020B0609020204030204" pitchFamily="49" charset="0"/>
              </a:rPr>
              <a:t>high quality and low quantity</a:t>
            </a:r>
            <a:r>
              <a:rPr lang="en-SG" sz="800" dirty="0">
                <a:solidFill>
                  <a:srgbClr val="B31261"/>
                </a:solidFill>
                <a:latin typeface="Consolas" panose="020B0609020204030204" pitchFamily="49" charset="0"/>
              </a:rPr>
              <a:t>. </a:t>
            </a:r>
          </a:p>
          <a:p>
            <a:endParaRPr lang="en-SG" sz="800" dirty="0">
              <a:solidFill>
                <a:srgbClr val="B31261"/>
              </a:solidFill>
              <a:latin typeface="Consolas" panose="020B0609020204030204" pitchFamily="49" charset="0"/>
            </a:endParaRPr>
          </a:p>
          <a:p>
            <a:r>
              <a:rPr lang="en-SG" sz="800" dirty="0">
                <a:solidFill>
                  <a:srgbClr val="B31261"/>
                </a:solidFill>
                <a:latin typeface="Consolas" panose="020B0609020204030204" pitchFamily="49" charset="0"/>
              </a:rPr>
              <a:t>This is because it has the complexity and distinct structure that separates itself from the rest of the possible models. Furthermore, after finding out the time taken, surface area and cost of production, I feel that this model is the most feasible to 3D print</a:t>
            </a:r>
          </a:p>
        </p:txBody>
      </p:sp>
      <p:sp>
        <p:nvSpPr>
          <p:cNvPr id="9" name="TextBox 8">
            <a:extLst>
              <a:ext uri="{FF2B5EF4-FFF2-40B4-BE49-F238E27FC236}">
                <a16:creationId xmlns:a16="http://schemas.microsoft.com/office/drawing/2014/main" id="{4191412C-018F-4BFA-6BB1-FF6236333EB5}"/>
              </a:ext>
            </a:extLst>
          </p:cNvPr>
          <p:cNvSpPr txBox="1"/>
          <p:nvPr/>
        </p:nvSpPr>
        <p:spPr>
          <a:xfrm>
            <a:off x="341316" y="1606009"/>
            <a:ext cx="845965" cy="830997"/>
          </a:xfrm>
          <a:prstGeom prst="rect">
            <a:avLst/>
          </a:prstGeom>
          <a:noFill/>
        </p:spPr>
        <p:txBody>
          <a:bodyPr wrap="square" rtlCol="0">
            <a:spAutoFit/>
          </a:bodyPr>
          <a:lstStyle/>
          <a:p>
            <a:r>
              <a:rPr lang="en-SG" sz="800" b="1" dirty="0" err="1">
                <a:solidFill>
                  <a:srgbClr val="B31261"/>
                </a:solidFill>
                <a:latin typeface="Consolas" panose="020B0609020204030204" pitchFamily="49" charset="0"/>
              </a:rPr>
              <a:t>Sx</a:t>
            </a:r>
            <a:r>
              <a:rPr lang="en-SG" sz="800" b="1" dirty="0">
                <a:solidFill>
                  <a:srgbClr val="B31261"/>
                </a:solidFill>
                <a:latin typeface="Consolas" panose="020B0609020204030204" pitchFamily="49" charset="0"/>
              </a:rPr>
              <a:t>: 0.10 </a:t>
            </a:r>
          </a:p>
          <a:p>
            <a:r>
              <a:rPr lang="en-SG" sz="800" b="1" dirty="0">
                <a:solidFill>
                  <a:srgbClr val="B31261"/>
                </a:solidFill>
                <a:latin typeface="Consolas" panose="020B0609020204030204" pitchFamily="49" charset="0"/>
              </a:rPr>
              <a:t>Sy: 0.10</a:t>
            </a:r>
          </a:p>
          <a:p>
            <a:r>
              <a:rPr lang="en-SG" sz="800" b="1" dirty="0">
                <a:solidFill>
                  <a:srgbClr val="B31261"/>
                </a:solidFill>
                <a:latin typeface="Consolas" panose="020B0609020204030204" pitchFamily="49" charset="0"/>
              </a:rPr>
              <a:t>Area: 12745</a:t>
            </a:r>
          </a:p>
          <a:p>
            <a:r>
              <a:rPr lang="en-SG" sz="800" b="1" dirty="0">
                <a:solidFill>
                  <a:srgbClr val="B31261"/>
                </a:solidFill>
                <a:latin typeface="Consolas" panose="020B0609020204030204" pitchFamily="49" charset="0"/>
              </a:rPr>
              <a:t>Time taken: 1h 14min</a:t>
            </a:r>
            <a:endParaRPr lang="en-SG" sz="800" dirty="0">
              <a:latin typeface="Consolas" panose="020B0609020204030204" pitchFamily="49" charset="0"/>
            </a:endParaRPr>
          </a:p>
          <a:p>
            <a:endParaRPr lang="en-SG" sz="800" dirty="0">
              <a:latin typeface="Consolas" panose="020B0609020204030204" pitchFamily="49" charset="0"/>
            </a:endParaRPr>
          </a:p>
        </p:txBody>
      </p:sp>
      <p:sp>
        <p:nvSpPr>
          <p:cNvPr id="14" name="TextBox 13">
            <a:extLst>
              <a:ext uri="{FF2B5EF4-FFF2-40B4-BE49-F238E27FC236}">
                <a16:creationId xmlns:a16="http://schemas.microsoft.com/office/drawing/2014/main" id="{7BDA8131-D2DE-2A3A-B4ED-77CB08AD9963}"/>
              </a:ext>
            </a:extLst>
          </p:cNvPr>
          <p:cNvSpPr txBox="1"/>
          <p:nvPr/>
        </p:nvSpPr>
        <p:spPr>
          <a:xfrm>
            <a:off x="341316" y="3766814"/>
            <a:ext cx="845965" cy="830997"/>
          </a:xfrm>
          <a:prstGeom prst="rect">
            <a:avLst/>
          </a:prstGeom>
          <a:noFill/>
        </p:spPr>
        <p:txBody>
          <a:bodyPr wrap="square" rtlCol="0">
            <a:spAutoFit/>
          </a:bodyPr>
          <a:lstStyle/>
          <a:p>
            <a:r>
              <a:rPr lang="en-SG" sz="800" b="1" dirty="0" err="1">
                <a:solidFill>
                  <a:srgbClr val="B31261"/>
                </a:solidFill>
                <a:latin typeface="Consolas" panose="020B0609020204030204" pitchFamily="49" charset="0"/>
              </a:rPr>
              <a:t>Sx</a:t>
            </a:r>
            <a:r>
              <a:rPr lang="en-SG" sz="800" b="1" dirty="0">
                <a:solidFill>
                  <a:srgbClr val="B31261"/>
                </a:solidFill>
                <a:latin typeface="Consolas" panose="020B0609020204030204" pitchFamily="49" charset="0"/>
              </a:rPr>
              <a:t>: 0.50 </a:t>
            </a:r>
          </a:p>
          <a:p>
            <a:r>
              <a:rPr lang="en-SG" sz="800" b="1" dirty="0">
                <a:solidFill>
                  <a:srgbClr val="B31261"/>
                </a:solidFill>
                <a:latin typeface="Consolas" panose="020B0609020204030204" pitchFamily="49" charset="0"/>
              </a:rPr>
              <a:t>Sy: 0.10</a:t>
            </a:r>
          </a:p>
          <a:p>
            <a:r>
              <a:rPr lang="en-SG" sz="800" b="1" dirty="0">
                <a:solidFill>
                  <a:srgbClr val="B31261"/>
                </a:solidFill>
                <a:latin typeface="Consolas" panose="020B0609020204030204" pitchFamily="49" charset="0"/>
              </a:rPr>
              <a:t>Area: 34025</a:t>
            </a:r>
          </a:p>
          <a:p>
            <a:r>
              <a:rPr lang="en-SG" sz="800" b="1" dirty="0">
                <a:solidFill>
                  <a:srgbClr val="B31261"/>
                </a:solidFill>
                <a:latin typeface="Consolas" panose="020B0609020204030204" pitchFamily="49" charset="0"/>
              </a:rPr>
              <a:t>Time taken: 2h 25min</a:t>
            </a:r>
            <a:endParaRPr lang="en-SG" sz="800" dirty="0">
              <a:latin typeface="Consolas" panose="020B0609020204030204" pitchFamily="49" charset="0"/>
            </a:endParaRPr>
          </a:p>
          <a:p>
            <a:endParaRPr lang="en-SG" sz="800" dirty="0">
              <a:latin typeface="Consolas" panose="020B0609020204030204" pitchFamily="49" charset="0"/>
            </a:endParaRPr>
          </a:p>
        </p:txBody>
      </p:sp>
      <p:sp>
        <p:nvSpPr>
          <p:cNvPr id="15" name="TextBox 14">
            <a:extLst>
              <a:ext uri="{FF2B5EF4-FFF2-40B4-BE49-F238E27FC236}">
                <a16:creationId xmlns:a16="http://schemas.microsoft.com/office/drawing/2014/main" id="{8830E285-F50D-4550-8C4D-6E4A7447F728}"/>
              </a:ext>
            </a:extLst>
          </p:cNvPr>
          <p:cNvSpPr txBox="1"/>
          <p:nvPr/>
        </p:nvSpPr>
        <p:spPr>
          <a:xfrm>
            <a:off x="4107035" y="1719613"/>
            <a:ext cx="845965" cy="830997"/>
          </a:xfrm>
          <a:prstGeom prst="rect">
            <a:avLst/>
          </a:prstGeom>
          <a:noFill/>
        </p:spPr>
        <p:txBody>
          <a:bodyPr wrap="square" rtlCol="0">
            <a:spAutoFit/>
          </a:bodyPr>
          <a:lstStyle/>
          <a:p>
            <a:r>
              <a:rPr lang="en-SG" sz="800" b="1" dirty="0" err="1">
                <a:solidFill>
                  <a:srgbClr val="B31261"/>
                </a:solidFill>
                <a:latin typeface="Consolas" panose="020B0609020204030204" pitchFamily="49" charset="0"/>
              </a:rPr>
              <a:t>Sx</a:t>
            </a:r>
            <a:r>
              <a:rPr lang="en-SG" sz="800" b="1" dirty="0">
                <a:solidFill>
                  <a:srgbClr val="B31261"/>
                </a:solidFill>
                <a:latin typeface="Consolas" panose="020B0609020204030204" pitchFamily="49" charset="0"/>
              </a:rPr>
              <a:t>: 0.95 </a:t>
            </a:r>
          </a:p>
          <a:p>
            <a:r>
              <a:rPr lang="en-SG" sz="800" b="1" dirty="0">
                <a:solidFill>
                  <a:srgbClr val="B31261"/>
                </a:solidFill>
                <a:latin typeface="Consolas" panose="020B0609020204030204" pitchFamily="49" charset="0"/>
              </a:rPr>
              <a:t>Sy: 0.10</a:t>
            </a:r>
          </a:p>
          <a:p>
            <a:r>
              <a:rPr lang="en-SG" sz="800" b="1" dirty="0">
                <a:solidFill>
                  <a:srgbClr val="B31261"/>
                </a:solidFill>
                <a:latin typeface="Consolas" panose="020B0609020204030204" pitchFamily="49" charset="0"/>
              </a:rPr>
              <a:t>Area: 38079</a:t>
            </a:r>
          </a:p>
          <a:p>
            <a:r>
              <a:rPr lang="en-SG" sz="800" b="1" dirty="0">
                <a:solidFill>
                  <a:srgbClr val="B31261"/>
                </a:solidFill>
                <a:latin typeface="Consolas" panose="020B0609020204030204" pitchFamily="49" charset="0"/>
              </a:rPr>
              <a:t>Time taken: 2h 47min</a:t>
            </a:r>
            <a:endParaRPr lang="en-SG" sz="800" dirty="0">
              <a:latin typeface="Consolas" panose="020B0609020204030204" pitchFamily="49" charset="0"/>
            </a:endParaRPr>
          </a:p>
          <a:p>
            <a:endParaRPr lang="en-SG" sz="800" dirty="0">
              <a:latin typeface="Consolas" panose="020B0609020204030204" pitchFamily="49" charset="0"/>
            </a:endParaRPr>
          </a:p>
        </p:txBody>
      </p:sp>
      <p:sp>
        <p:nvSpPr>
          <p:cNvPr id="17" name="TextBox 16">
            <a:extLst>
              <a:ext uri="{FF2B5EF4-FFF2-40B4-BE49-F238E27FC236}">
                <a16:creationId xmlns:a16="http://schemas.microsoft.com/office/drawing/2014/main" id="{AFD6AA4C-38AB-AC5B-3F65-D271EC467C9D}"/>
              </a:ext>
            </a:extLst>
          </p:cNvPr>
          <p:cNvSpPr txBox="1"/>
          <p:nvPr/>
        </p:nvSpPr>
        <p:spPr>
          <a:xfrm>
            <a:off x="4052560" y="3767839"/>
            <a:ext cx="845965" cy="830997"/>
          </a:xfrm>
          <a:prstGeom prst="rect">
            <a:avLst/>
          </a:prstGeom>
          <a:noFill/>
        </p:spPr>
        <p:txBody>
          <a:bodyPr wrap="square" rtlCol="0">
            <a:spAutoFit/>
          </a:bodyPr>
          <a:lstStyle/>
          <a:p>
            <a:r>
              <a:rPr lang="en-SG" sz="800" b="1" dirty="0" err="1">
                <a:solidFill>
                  <a:srgbClr val="B31261"/>
                </a:solidFill>
                <a:latin typeface="Consolas" panose="020B0609020204030204" pitchFamily="49" charset="0"/>
              </a:rPr>
              <a:t>Sx</a:t>
            </a:r>
            <a:r>
              <a:rPr lang="en-SG" sz="800" b="1" dirty="0">
                <a:solidFill>
                  <a:srgbClr val="B31261"/>
                </a:solidFill>
                <a:latin typeface="Consolas" panose="020B0609020204030204" pitchFamily="49" charset="0"/>
              </a:rPr>
              <a:t>: 0.95 </a:t>
            </a:r>
          </a:p>
          <a:p>
            <a:r>
              <a:rPr lang="en-SG" sz="800" b="1" dirty="0">
                <a:solidFill>
                  <a:srgbClr val="B31261"/>
                </a:solidFill>
                <a:latin typeface="Consolas" panose="020B0609020204030204" pitchFamily="49" charset="0"/>
              </a:rPr>
              <a:t>Sy: 0.95</a:t>
            </a:r>
          </a:p>
          <a:p>
            <a:r>
              <a:rPr lang="en-SG" sz="800" b="1" dirty="0">
                <a:solidFill>
                  <a:srgbClr val="B31261"/>
                </a:solidFill>
                <a:latin typeface="Consolas" panose="020B0609020204030204" pitchFamily="49" charset="0"/>
              </a:rPr>
              <a:t>Area: 41551</a:t>
            </a:r>
          </a:p>
          <a:p>
            <a:r>
              <a:rPr lang="en-SG" sz="800" b="1" dirty="0">
                <a:solidFill>
                  <a:srgbClr val="B31261"/>
                </a:solidFill>
                <a:latin typeface="Consolas" panose="020B0609020204030204" pitchFamily="49" charset="0"/>
              </a:rPr>
              <a:t>Time taken: 4h 8min</a:t>
            </a:r>
            <a:endParaRPr lang="en-SG" sz="800" dirty="0">
              <a:latin typeface="Consolas" panose="020B0609020204030204" pitchFamily="49" charset="0"/>
            </a:endParaRPr>
          </a:p>
          <a:p>
            <a:endParaRPr lang="en-SG" sz="800" dirty="0">
              <a:latin typeface="Consolas" panose="020B0609020204030204" pitchFamily="49" charset="0"/>
            </a:endParaRPr>
          </a:p>
        </p:txBody>
      </p:sp>
    </p:spTree>
    <p:extLst>
      <p:ext uri="{BB962C8B-B14F-4D97-AF65-F5344CB8AC3E}">
        <p14:creationId xmlns:p14="http://schemas.microsoft.com/office/powerpoint/2010/main" val="14316031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860</TotalTime>
  <Words>714</Words>
  <Application>Microsoft Office PowerPoint</Application>
  <PresentationFormat>A4 Paper (210x297 mm)</PresentationFormat>
  <Paragraphs>113</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Consolas</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Stylianos Dritsas</dc:creator>
  <cp:lastModifiedBy>Heng Li Chua</cp:lastModifiedBy>
  <cp:revision>47</cp:revision>
  <dcterms:created xsi:type="dcterms:W3CDTF">2020-07-28T23:26:11Z</dcterms:created>
  <dcterms:modified xsi:type="dcterms:W3CDTF">2024-10-17T15:33:36Z</dcterms:modified>
</cp:coreProperties>
</file>