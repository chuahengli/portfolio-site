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Hook: land vs underwater wireless asymmetry. Land WiFi/cellular works at MHz-GHz; the same frequencies are useless underwater because of skin-depth loss in conductive seawater. This sets up the three-way comparison: why acoustic, optical, and RF/MI each exist.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Anchor the audience in the physics. The skin-depth equation is the entire reason the talk exists. Show that at 1 MHz, seawater skin depth is on the order of 10 cm; at 100 MHz it is mm. Mention the conductivity contrast vs air to make the asymmetry visceral.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Acoustic is the workhorse of underwater networking. Reference the Thorp curve: at 30 kHz absorption is a few dB/km, at 100 kHz it's tens of dB/km. Mention Stojanovic's 2008 JASA review as a one-stop reference. If asked: yes, low-frequency long-range acoustic (e.g., 3-30 Hz) can reach ocean-basin scales, but at bps-level data rates.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Optical is the complement to acoustic: order-of-magnitude more bandwidth at order-of-magnitude less range. Mention that natural seawater absorption peaks in the red and IR; the blue-green window is the residual 'hole' that lets light penetrate. This is also why deep-sea bioluminescence is mostly blue-green: it has the best chance of being seen.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Magneto-inductive (MI) communication is a near-field technique using coil-to-coil magnetic coupling. It exploits the fact that seawater is essentially transparent to quasi-static magnetic fields (unlike EM waves). Tradeoff: 1/r^3 rolloff in coupling is steep, so range is bounded. Useful where acoustics break down — high multipath, very turbid, or noise — and where you only need a few meters of range. Reference: MIT / WHOI publications on MI links for divers.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centerpiece. Walk left-to-right: acoustic has range but is sensitive to multipath; optical has bandwidth but loses to turbidity; RF/MI shrugs off both but only at short range. If asked 'which is best?' — point to the row matching the mission, not the column.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on the hybrid message. Modern AUVs are the canonical example: REMUS, Sentry, Autosub all use acoustic for command/telemetry and increasingly optical for high-bandwidth offload at docking stations. The map on the left makes it visually obvious why you cannot pick one technology and solve all underwater comms problems.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5DA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9AA4B2"/>
                </a:solidFill>
                <a:latin typeface="Calibri"/>
              </a:rPr>
              <a:t>30.102 Electromagnetics &amp; Applications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400" b="1">
                <a:solidFill>
                  <a:srgbClr val="E6EDF3"/>
                </a:solidFill>
                <a:latin typeface="Calibri"/>
              </a:rPr>
              <a:t>Underwater Wireless Communications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60604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0">
                <a:solidFill>
                  <a:srgbClr val="5DA9FF"/>
                </a:solidFill>
                <a:latin typeface="Calibri"/>
              </a:rPr>
              <a:t>Acoustic  vs  Optical  vs  RF / Magneto-Inductive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749039"/>
            <a:ext cx="10515600" cy="1463040"/>
          </a:xfrm>
          <a:prstGeom prst="roundRect">
            <a:avLst/>
          </a:prstGeom>
          <a:solidFill>
            <a:srgbClr val="141A23"/>
          </a:solidFill>
          <a:ln w="15875">
            <a:solidFill>
              <a:srgbClr val="5DA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rIns="365760" tIns="228600" bIns="228600" wrap="square"/>
          <a:lstStyle/>
          <a:p>
            <a:pPr algn="l"/>
            <a:r>
              <a:rPr sz="2600" i="1">
                <a:solidFill>
                  <a:srgbClr val="E6EDF3"/>
                </a:solidFill>
                <a:latin typeface="Calibri"/>
              </a:rPr>
              <a:t>"On land, we take wireless connectivity for granted. Put that same radio 10 meters underwater, and it's dead within centimeters. Why?"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85216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9AA4B2"/>
                </a:solidFill>
                <a:latin typeface="Calibri"/>
              </a:rPr>
              <a:t>SUTD  |  Term 5 Presentation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3"/>
                </a:solidFill>
                <a:latin typeface="Calibri"/>
              </a:rPr>
              <a:t>30.102 Electromagnetics &amp; Apps  |  Underwater Wireless Communications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3"/>
                </a:solidFill>
                <a:latin typeface="Calibri"/>
              </a:rPr>
              <a:t>1 / 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>
                <a:solidFill>
                  <a:srgbClr val="E6EDF3"/>
                </a:solidFill>
                <a:latin typeface="Calibri"/>
              </a:rPr>
              <a:t>The Core Problem: Seawater Eats RF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640080" cy="73152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512064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800" b="1">
                <a:solidFill>
                  <a:srgbClr val="E6EDF3"/>
                </a:solidFill>
                <a:latin typeface="Calibri"/>
              </a:rPr>
              <a:t>• Seawater is a lossy conductive medium</a:t>
            </a:r>
            <a:r>
              <a:rPr sz="1800">
                <a:solidFill>
                  <a:srgbClr val="E6EDF3"/>
                </a:solidFill>
                <a:latin typeface="Calibri"/>
              </a:rPr>
              <a:t>  — σ ≈ 4 S/m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800" b="1">
                <a:solidFill>
                  <a:srgbClr val="E6EDF3"/>
                </a:solidFill>
                <a:latin typeface="Calibri"/>
              </a:rPr>
              <a:t>• Skin depth shrinks fast with frequency:</a:t>
            </a:r>
            <a:r>
              <a:rPr sz="1800">
                <a:solidFill>
                  <a:srgbClr val="E6EDF3"/>
                </a:solidFill>
                <a:latin typeface="Calibri"/>
              </a:rPr>
              <a:t>  δ = √(2 / ωμσ)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800" b="1">
                <a:solidFill>
                  <a:srgbClr val="E6EDF3"/>
                </a:solidFill>
                <a:latin typeface="Calibri"/>
              </a:rPr>
              <a:t>• At MHz+: penetration is centimeters, not meters</a:t>
            </a:r>
            <a:r>
              <a:rPr sz="1800">
                <a:solidFill>
                  <a:srgbClr val="E6EDF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800" b="1">
                <a:solidFill>
                  <a:srgbClr val="E6EDF3"/>
                </a:solidFill>
                <a:latin typeface="Calibri"/>
              </a:rPr>
              <a:t>• Decent bandwidth (MHz+) is exactly where seawater kills the signal</a:t>
            </a:r>
            <a:r>
              <a:rPr sz="1800">
                <a:solidFill>
                  <a:srgbClr val="E6EDF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800" b="1">
                <a:solidFill>
                  <a:srgbClr val="E6EDF3"/>
                </a:solidFill>
                <a:latin typeface="Calibri"/>
              </a:rPr>
              <a:t>• No single dominant technology — only tradeoffs</a:t>
            </a:r>
            <a:r>
              <a:rPr sz="1800">
                <a:solidFill>
                  <a:srgbClr val="E6EDF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800" b="1">
                <a:solidFill>
                  <a:srgbClr val="E6EDF3"/>
                </a:solidFill>
                <a:latin typeface="Calibri"/>
              </a:rPr>
              <a:t>• This divergence is why the entire underwater comms field exists</a:t>
            </a:r>
            <a:r>
              <a:rPr sz="1800">
                <a:solidFill>
                  <a:srgbClr val="E6EDF3"/>
                </a:solidFill>
                <a:latin typeface="Calibri"/>
              </a:rPr>
              <a:t/>
            </a:r>
          </a:p>
        </p:txBody>
      </p:sp>
      <p:pic>
        <p:nvPicPr>
          <p:cNvPr id="6" name="Picture 5" descr="rf_skin_dep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280160"/>
            <a:ext cx="5943600" cy="33432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58521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9AA4B2"/>
                </a:solidFill>
                <a:latin typeface="Calibri"/>
              </a:rPr>
              <a:t>Key insight: RF works on land because air has σ ≈ 0. The ocean is 4 billion times more conductive.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3"/>
                </a:solidFill>
                <a:latin typeface="Calibri"/>
              </a:rPr>
              <a:t>30.102 Electromagnetics &amp; Apps  |  Underwater Wireless Communications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3"/>
                </a:solidFill>
                <a:latin typeface="Calibri"/>
              </a:rPr>
              <a:t>2 /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>
                <a:solidFill>
                  <a:srgbClr val="E6EDF3"/>
                </a:solidFill>
                <a:latin typeface="Calibri"/>
              </a:rPr>
              <a:t>Acoustic: Long Range, Low Rate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640080" cy="73152"/>
          </a:xfrm>
          <a:prstGeom prst="rect">
            <a:avLst/>
          </a:prstGeom>
          <a:solidFill>
            <a:srgbClr val="5DA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530352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E6EDF3"/>
                </a:solidFill>
                <a:latin typeface="Calibri"/>
              </a:rPr>
              <a:t>• Physics</a:t>
            </a:r>
            <a:r>
              <a:rPr sz="1600">
                <a:solidFill>
                  <a:srgbClr val="E6EDF3"/>
                </a:solidFill>
                <a:latin typeface="Calibri"/>
              </a:rPr>
              <a:t>  Sound at c ≈ 1500 m/s, 4× faster than air; much lower attenuation than RF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E6EDF3"/>
                </a:solidFill>
                <a:latin typeface="Calibri"/>
              </a:rPr>
              <a:t>• Range</a:t>
            </a:r>
            <a:r>
              <a:rPr sz="1600">
                <a:solidFill>
                  <a:srgbClr val="E6EDF3"/>
                </a:solidFill>
                <a:latin typeface="Calibri"/>
              </a:rPr>
              <a:t>  km to tens of km for typical comms; SOFAR-channel VLFs can reach 100s of km at bps rates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E6EDF3"/>
                </a:solidFill>
                <a:latin typeface="Calibri"/>
              </a:rPr>
              <a:t>• Bandwidth</a:t>
            </a:r>
            <a:r>
              <a:rPr sz="1600">
                <a:solidFill>
                  <a:srgbClr val="E6EDF3"/>
                </a:solidFill>
                <a:latin typeface="Calibri"/>
              </a:rPr>
              <a:t>  kbps, drops with range — hard range-bandwidth tradeoff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E6EDF3"/>
                </a:solidFill>
                <a:latin typeface="Calibri"/>
              </a:rPr>
              <a:t>• Impairments</a:t>
            </a:r>
            <a:r>
              <a:rPr sz="1600">
                <a:solidFill>
                  <a:srgbClr val="E6EDF3"/>
                </a:solidFill>
                <a:latin typeface="Calibri"/>
              </a:rPr>
              <a:t>  Multipath from surface/seafloor reflections → severe ISI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E6EDF3"/>
                </a:solidFill>
                <a:latin typeface="Calibri"/>
              </a:rPr>
              <a:t>• Doppler</a:t>
            </a:r>
            <a:r>
              <a:rPr sz="1600">
                <a:solidFill>
                  <a:srgbClr val="E6EDF3"/>
                </a:solidFill>
                <a:latin typeface="Calibri"/>
              </a:rPr>
              <a:t>  Worsened by platform motion (subs, AUVs)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E6EDF3"/>
                </a:solidFill>
                <a:latin typeface="Calibri"/>
              </a:rPr>
              <a:t>• Latency</a:t>
            </a:r>
            <a:r>
              <a:rPr sz="1600">
                <a:solidFill>
                  <a:srgbClr val="E6EDF3"/>
                </a:solidFill>
                <a:latin typeface="Calibri"/>
              </a:rPr>
              <a:t>  Seconds-scale round trip → ARQ/retransmission breaks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E6EDF3"/>
                </a:solidFill>
                <a:latin typeface="Calibri"/>
              </a:rPr>
              <a:t>• Best for</a:t>
            </a:r>
            <a:r>
              <a:rPr sz="1600">
                <a:solidFill>
                  <a:srgbClr val="E6EDF3"/>
                </a:solidFill>
                <a:latin typeface="Calibri"/>
              </a:rPr>
              <a:t>  Submarine comms, ocean sensor backbone, AUV command/control</a:t>
            </a:r>
          </a:p>
        </p:txBody>
      </p:sp>
      <p:pic>
        <p:nvPicPr>
          <p:cNvPr id="6" name="Picture 5" descr="acoustic_att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280160"/>
            <a:ext cx="5852160" cy="32918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9AA4B2"/>
                </a:solidFill>
                <a:latin typeface="Calibri"/>
              </a:rPr>
              <a:t>Absorption climbs steeply above ~50 kHz — bandwidth is the price paid for range.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3"/>
                </a:solidFill>
                <a:latin typeface="Calibri"/>
              </a:rPr>
              <a:t>30.102 Electromagnetics &amp; Apps  |  Underwater Wireless Communications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3"/>
                </a:solidFill>
                <a:latin typeface="Calibri"/>
              </a:rPr>
              <a:t>3 /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>
                <a:solidFill>
                  <a:srgbClr val="E6EDF3"/>
                </a:solidFill>
                <a:latin typeface="Calibri"/>
              </a:rPr>
              <a:t>Optical (Blue-Green): Short Range, High Rate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640080" cy="73152"/>
          </a:xfrm>
          <a:prstGeom prst="rect">
            <a:avLst/>
          </a:prstGeom>
          <a:solidFill>
            <a:srgbClr val="F7B9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530352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E6EDF3"/>
                </a:solidFill>
                <a:latin typeface="Calibri"/>
              </a:rPr>
              <a:t>• Physics</a:t>
            </a:r>
            <a:r>
              <a:rPr sz="1600">
                <a:solidFill>
                  <a:srgbClr val="E6EDF3"/>
                </a:solidFill>
                <a:latin typeface="Calibri"/>
              </a:rPr>
              <a:t>  Blue-green (~450-550 nm, min near 418 nm in pure water) is the minimum-absorption window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E6EDF3"/>
                </a:solidFill>
                <a:latin typeface="Calibri"/>
              </a:rPr>
              <a:t>• Range</a:t>
            </a:r>
            <a:r>
              <a:rPr sz="1600">
                <a:solidFill>
                  <a:srgbClr val="E6EDF3"/>
                </a:solidFill>
                <a:latin typeface="Calibri"/>
              </a:rPr>
              <a:t>  10s to ~100 m, depending heavily on turbidity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E6EDF3"/>
                </a:solidFill>
                <a:latin typeface="Calibri"/>
              </a:rPr>
              <a:t>• Bandwidth</a:t>
            </a:r>
            <a:r>
              <a:rPr sz="1600">
                <a:solidFill>
                  <a:srgbClr val="E6EDF3"/>
                </a:solidFill>
                <a:latin typeface="Calibri"/>
              </a:rPr>
              <a:t>  Mbps to Gbps — orders of magnitude above acoustic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E6EDF3"/>
                </a:solidFill>
                <a:latin typeface="Calibri"/>
              </a:rPr>
              <a:t>• Turbidity</a:t>
            </a:r>
            <a:r>
              <a:rPr sz="1600">
                <a:solidFill>
                  <a:srgbClr val="E6EDF3"/>
                </a:solidFill>
                <a:latin typeface="Calibri"/>
              </a:rPr>
              <a:t>  Clear ocean vs murky coastal water: night-and-day difference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E6EDF3"/>
                </a:solidFill>
                <a:latin typeface="Calibri"/>
              </a:rPr>
              <a:t>• Pointing</a:t>
            </a:r>
            <a:r>
              <a:rPr sz="1600">
                <a:solidFill>
                  <a:srgbClr val="E6EDF3"/>
                </a:solidFill>
                <a:latin typeface="Calibri"/>
              </a:rPr>
              <a:t>  Tight alignment required — hard for anything mobile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E6EDF3"/>
                </a:solidFill>
                <a:latin typeface="Calibri"/>
              </a:rPr>
              <a:t>• Best for</a:t>
            </a:r>
            <a:r>
              <a:rPr sz="1600">
                <a:solidFill>
                  <a:srgbClr val="E6EDF3"/>
                </a:solidFill>
                <a:latin typeface="Calibri"/>
              </a:rPr>
              <a:t>  AUV docking-station offload, ROV-to-surface HD video/sensor dumps</a:t>
            </a:r>
          </a:p>
        </p:txBody>
      </p:sp>
      <p:pic>
        <p:nvPicPr>
          <p:cNvPr id="6" name="Picture 5" descr="optical_att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280160"/>
            <a:ext cx="5852160" cy="32918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9AA4B2"/>
                </a:solidFill>
                <a:latin typeface="Calibri"/>
              </a:rPr>
              <a:t>Reference systems: Sonardyne BlueComm (10 Mbps), WHOI optical modems, Ambalux.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3"/>
                </a:solidFill>
                <a:latin typeface="Calibri"/>
              </a:rPr>
              <a:t>30.102 Electromagnetics &amp; Apps  |  Underwater Wireless Communications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3"/>
                </a:solidFill>
                <a:latin typeface="Calibri"/>
              </a:rPr>
              <a:t>4 /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E6EDF3"/>
                </a:solidFill>
                <a:latin typeface="Calibri"/>
              </a:rPr>
              <a:t>RF / Magneto-Inductive: Tough Conditions, Short Range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640080" cy="73152"/>
          </a:xfrm>
          <a:prstGeom prst="rect">
            <a:avLst/>
          </a:prstGeom>
          <a:solidFill>
            <a:srgbClr val="7BD3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530352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E6EDF3"/>
                </a:solidFill>
                <a:latin typeface="Calibri"/>
              </a:rPr>
              <a:t>• Physics</a:t>
            </a:r>
            <a:r>
              <a:rPr sz="1600">
                <a:solidFill>
                  <a:srgbClr val="E6EDF3"/>
                </a:solidFill>
                <a:latin typeface="Calibri"/>
              </a:rPr>
              <a:t>  Near-field magnetic induction sidesteps far-field RF propagation loss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E6EDF3"/>
                </a:solidFill>
                <a:latin typeface="Calibri"/>
              </a:rPr>
              <a:t>• Range</a:t>
            </a:r>
            <a:r>
              <a:rPr sz="1600">
                <a:solidFill>
                  <a:srgbClr val="E6EDF3"/>
                </a:solidFill>
                <a:latin typeface="Calibri"/>
              </a:rPr>
              <a:t>  Typically under 10 m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E6EDF3"/>
                </a:solidFill>
                <a:latin typeface="Calibri"/>
              </a:rPr>
              <a:t>• Bandwidth</a:t>
            </a:r>
            <a:r>
              <a:rPr sz="1600">
                <a:solidFill>
                  <a:srgbClr val="E6EDF3"/>
                </a:solidFill>
                <a:latin typeface="Calibri"/>
              </a:rPr>
              <a:t>  Moderate — better than acoustic at short range, lower than optical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E6EDF3"/>
                </a:solidFill>
                <a:latin typeface="Calibri"/>
              </a:rPr>
              <a:t>• Key advantage</a:t>
            </a:r>
            <a:r>
              <a:rPr sz="1600">
                <a:solidFill>
                  <a:srgbClr val="E6EDF3"/>
                </a:solidFill>
                <a:latin typeface="Calibri"/>
              </a:rPr>
              <a:t>  Insensitive to turbidity and multipath — physics doesn't care about water clarity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E6EDF3"/>
                </a:solidFill>
                <a:latin typeface="Calibri"/>
              </a:rPr>
              <a:t>• Tradeoff</a:t>
            </a:r>
            <a:r>
              <a:rPr sz="1600">
                <a:solidFill>
                  <a:srgbClr val="E6EDF3"/>
                </a:solidFill>
                <a:latin typeface="Calibri"/>
              </a:rPr>
              <a:t>  Range drops fast with distance beyond near-field coupling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E6EDF3"/>
                </a:solidFill>
                <a:latin typeface="Calibri"/>
              </a:rPr>
              <a:t>• Best for</a:t>
            </a:r>
            <a:r>
              <a:rPr sz="1600">
                <a:solidFill>
                  <a:srgbClr val="E6EDF3"/>
                </a:solidFill>
                <a:latin typeface="Calibri"/>
              </a:rPr>
              <a:t>  Diver-to-diver, short buoy-to-surface links, turbid or reflective water</a:t>
            </a:r>
          </a:p>
        </p:txBody>
      </p:sp>
      <p:pic>
        <p:nvPicPr>
          <p:cNvPr id="6" name="Picture 5" descr="diver_communicat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463040"/>
            <a:ext cx="5852160" cy="887272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35040" y="5577840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5A6473"/>
                </a:solidFill>
                <a:latin typeface="Calibri"/>
              </a:rPr>
              <a:t>Reference: diver with through-water comms rig.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0350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9AA4B2"/>
                </a:solidFill>
                <a:latin typeface="Calibri"/>
              </a:rPr>
              <a:t>Magneto-inductive links operate in the near field — coupling rather than radiation.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3"/>
                </a:solidFill>
                <a:latin typeface="Calibri"/>
              </a:rPr>
              <a:t>30.102 Electromagnetics &amp; Apps  |  Underwater Wireless Communications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3"/>
                </a:solidFill>
                <a:latin typeface="Calibri"/>
              </a:rPr>
              <a:t>5 /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E6EDF3"/>
                </a:solidFill>
                <a:latin typeface="Calibri"/>
              </a:rPr>
              <a:t>Comparison Table — The Slide People Screenshot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640080" cy="73152"/>
          </a:xfrm>
          <a:prstGeom prst="rect">
            <a:avLst/>
          </a:prstGeom>
          <a:solidFill>
            <a:srgbClr val="E6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omparison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60120"/>
            <a:ext cx="11247120" cy="50612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3"/>
                </a:solidFill>
                <a:latin typeface="Calibri"/>
              </a:rPr>
              <a:t>30.102 Electromagnetics &amp; Apps  |  Underwater Wireless Communications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3"/>
                </a:solidFill>
                <a:latin typeface="Calibri"/>
              </a:rPr>
              <a:t>6 /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E6EDF3"/>
                </a:solidFill>
                <a:latin typeface="Calibri"/>
              </a:rPr>
              <a:t>No Universal Winner — Hybrid Systems Win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640080" cy="73152"/>
          </a:xfrm>
          <a:prstGeom prst="rect">
            <a:avLst/>
          </a:prstGeom>
          <a:solidFill>
            <a:srgbClr val="E6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range_bandwid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60120"/>
            <a:ext cx="7589520" cy="426910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0" y="100584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5DA9FF"/>
                </a:solidFill>
                <a:latin typeface="Calibri"/>
              </a:rPr>
              <a:t>Takeaways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1417320"/>
            <a:ext cx="365760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>
                <a:solidFill>
                  <a:srgbClr val="E6EDF3"/>
                </a:solidFill>
                <a:latin typeface="Calibri"/>
              </a:rPr>
              <a:t>• Each technology occupies a different corner of the tradeoff space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>
                <a:solidFill>
                  <a:srgbClr val="E6EDF3"/>
                </a:solidFill>
                <a:latin typeface="Calibri"/>
              </a:rPr>
              <a:t>• Real systems increasingly hybridize modalities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>
                <a:solidFill>
                  <a:srgbClr val="E6EDF3"/>
                </a:solidFill>
                <a:latin typeface="Calibri"/>
              </a:rPr>
              <a:t>• AUV example: acoustic for long-range C2, optical for high-rate bursts at the dock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>
                <a:solidFill>
                  <a:srgbClr val="E6EDF3"/>
                </a:solidFill>
                <a:latin typeface="Calibri"/>
              </a:rPr>
              <a:t>• Match the technology to the mission, not the other way around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66928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 i="1">
                <a:solidFill>
                  <a:srgbClr val="E6EDF3"/>
                </a:solidFill>
                <a:latin typeface="Calibri"/>
              </a:rPr>
              <a:t>"The ocean forces you to pick your poison — the real engineering question is knowing which poison fits your mission."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3"/>
                </a:solidFill>
                <a:latin typeface="Calibri"/>
              </a:rPr>
              <a:t>30.102 Electromagnetics &amp; Apps  |  Underwater Wireless Communications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3"/>
                </a:solidFill>
                <a:latin typeface="Calibri"/>
              </a:rPr>
              <a:t>7 /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